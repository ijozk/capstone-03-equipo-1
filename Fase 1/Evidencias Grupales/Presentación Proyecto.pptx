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PT Sans Narrow"/>
      <p:regular r:id="rId17"/>
      <p:bold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3" roundtripDataSignature="AMtx7mjR9sfd41oOBkVlwUQ2COEhjT5q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6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21" Type="http://schemas.openxmlformats.org/officeDocument/2006/relationships/font" Target="fonts/Open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TSansNarrow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regular.fntdata"/><Relationship Id="rId6" Type="http://schemas.openxmlformats.org/officeDocument/2006/relationships/slide" Target="slides/slide1.xml"/><Relationship Id="rId18" Type="http://schemas.openxmlformats.org/officeDocument/2006/relationships/font" Target="fonts/PTSansNarrow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3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13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13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13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13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13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13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13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5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5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6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1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" name="Google Shape;47;p2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20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20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2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1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2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2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22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b="0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"/>
          <p:cNvSpPr txBox="1"/>
          <p:nvPr>
            <p:ph type="ctrTitle"/>
          </p:nvPr>
        </p:nvSpPr>
        <p:spPr>
          <a:xfrm>
            <a:off x="311708" y="964313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s"/>
              <a:t>CAPSTONE: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s"/>
              <a:t>Presentación APT</a:t>
            </a:r>
            <a:endParaRPr/>
          </a:p>
        </p:txBody>
      </p:sp>
      <p:sp>
        <p:nvSpPr>
          <p:cNvPr id="67" name="Google Shape;67;p1"/>
          <p:cNvSpPr txBox="1"/>
          <p:nvPr>
            <p:ph idx="1" type="subTitle"/>
          </p:nvPr>
        </p:nvSpPr>
        <p:spPr>
          <a:xfrm>
            <a:off x="311700" y="312885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Ingeniería en Informática</a:t>
            </a:r>
            <a:endParaRPr/>
          </a:p>
        </p:txBody>
      </p:sp>
      <p:pic>
        <p:nvPicPr>
          <p:cNvPr id="68" name="Google Shape;6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49052" y="298750"/>
            <a:ext cx="1483247" cy="3650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"/>
          <p:cNvSpPr txBox="1"/>
          <p:nvPr/>
        </p:nvSpPr>
        <p:spPr>
          <a:xfrm>
            <a:off x="339900" y="4240825"/>
            <a:ext cx="8688300" cy="5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Kevin Carvajal - Manuel Figueroa - Jorge Riffo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Contenido</a:t>
            </a:r>
            <a:endParaRPr/>
          </a:p>
        </p:txBody>
      </p:sp>
      <p:sp>
        <p:nvSpPr>
          <p:cNvPr id="75" name="Google Shape;75;p2"/>
          <p:cNvSpPr txBox="1"/>
          <p:nvPr>
            <p:ph idx="1" type="body"/>
          </p:nvPr>
        </p:nvSpPr>
        <p:spPr>
          <a:xfrm>
            <a:off x="311700" y="1266325"/>
            <a:ext cx="6840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Descripción del proyecto - Problemática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Descripción del proyecto - Propuesta solución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Objetivos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Alcance del proyecto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Metodología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Tecnología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Cronograma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Comentario final</a:t>
            </a:r>
            <a:endParaRPr/>
          </a:p>
        </p:txBody>
      </p:sp>
      <p:pic>
        <p:nvPicPr>
          <p:cNvPr id="76" name="Google Shape;7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49052" y="298750"/>
            <a:ext cx="1483247" cy="36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2" title="330205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64550" y="1213688"/>
            <a:ext cx="2716125" cy="271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3600"/>
              <a:buNone/>
            </a:pPr>
            <a:r>
              <a:rPr lang="es" sz="1800"/>
              <a:t>Descripción del proyecto - Problemática</a:t>
            </a:r>
            <a:endParaRPr/>
          </a:p>
        </p:txBody>
      </p:sp>
      <p:sp>
        <p:nvSpPr>
          <p:cNvPr id="83" name="Google Shape;83;p3"/>
          <p:cNvSpPr txBox="1"/>
          <p:nvPr>
            <p:ph idx="1" type="body"/>
          </p:nvPr>
        </p:nvSpPr>
        <p:spPr>
          <a:xfrm>
            <a:off x="311700" y="1266325"/>
            <a:ext cx="8520600" cy="17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Nula o mala utilización de datos académicos de los alumnos para toma de decisiones de negocio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Falta de seguimiento de casos de bajo rendimiento académico y pocas herramientas que ayuden a mejorarlos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No tener en cuenta contexto del alumno para toma de decisiones </a:t>
            </a:r>
            <a:endParaRPr/>
          </a:p>
        </p:txBody>
      </p:sp>
      <p:pic>
        <p:nvPicPr>
          <p:cNvPr id="84" name="Google Shape;8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49052" y="298750"/>
            <a:ext cx="1483247" cy="36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3" title="79107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2775" y="3060925"/>
            <a:ext cx="1958450" cy="195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3600"/>
              <a:buNone/>
            </a:pPr>
            <a:r>
              <a:rPr lang="es" sz="1800"/>
              <a:t>Descripción del proyecto - Propuesta solución</a:t>
            </a:r>
            <a:endParaRPr/>
          </a:p>
        </p:txBody>
      </p:sp>
      <p:sp>
        <p:nvSpPr>
          <p:cNvPr id="91" name="Google Shape;91;p4"/>
          <p:cNvSpPr txBox="1"/>
          <p:nvPr>
            <p:ph idx="1" type="body"/>
          </p:nvPr>
        </p:nvSpPr>
        <p:spPr>
          <a:xfrm>
            <a:off x="0" y="979700"/>
            <a:ext cx="5104800" cy="3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Nombre del proyecto: </a:t>
            </a:r>
            <a:r>
              <a:rPr b="1" lang="es"/>
              <a:t>Data school</a:t>
            </a:r>
            <a:endParaRPr b="1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00"/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Proponemos:</a:t>
            </a:r>
            <a:endParaRPr/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 sz="1800"/>
              <a:t>Una plataforma web que permita administrar y registrar los datos académicos de los alumnos.</a:t>
            </a:r>
            <a:endParaRPr sz="1800"/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sz="1800"/>
              <a:t>Desarrollar y ofrecer herramientas de Business intelligence  para mejorar la toma de decisiones del negocio</a:t>
            </a:r>
            <a:endParaRPr/>
          </a:p>
        </p:txBody>
      </p:sp>
      <p:pic>
        <p:nvPicPr>
          <p:cNvPr id="92" name="Google Shape;9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49052" y="298750"/>
            <a:ext cx="1483247" cy="36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39125" y="1497377"/>
            <a:ext cx="2584275" cy="258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Objetivos</a:t>
            </a:r>
            <a:endParaRPr/>
          </a:p>
        </p:txBody>
      </p:sp>
      <p:sp>
        <p:nvSpPr>
          <p:cNvPr id="99" name="Google Shape;99;p5"/>
          <p:cNvSpPr txBox="1"/>
          <p:nvPr>
            <p:ph idx="1" type="body"/>
          </p:nvPr>
        </p:nvSpPr>
        <p:spPr>
          <a:xfrm>
            <a:off x="311700" y="1152475"/>
            <a:ext cx="8520600" cy="37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/>
              <a:t>Objetivo general: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Desarrollar e implementar una plataforma web que permita digitalizar la gestión académica y administrativa en establecimientos de enseñanza básica y media, optimizando la toma de decisiones del negocio respaldada por la información.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00" name="Google Shape;100;p5" title="272129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0250" y="3024600"/>
            <a:ext cx="1803475" cy="180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Objetivos</a:t>
            </a:r>
            <a:endParaRPr/>
          </a:p>
        </p:txBody>
      </p:sp>
      <p:sp>
        <p:nvSpPr>
          <p:cNvPr id="106" name="Google Shape;106;p6"/>
          <p:cNvSpPr txBox="1"/>
          <p:nvPr>
            <p:ph idx="1" type="body"/>
          </p:nvPr>
        </p:nvSpPr>
        <p:spPr>
          <a:xfrm>
            <a:off x="311700" y="1152425"/>
            <a:ext cx="8520600" cy="3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/>
              <a:t>Objetivos específicos:</a:t>
            </a:r>
            <a:endParaRPr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Optimizar la toma de decisiones directivas consolidando en dashboards interactivos el 100% de los datos de asistencia, rendimiento y encuestas socio familiares antes de los 8 meses.</a:t>
            </a:r>
            <a:endParaRPr sz="1600"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Mejorar la satisfacción de la comunidad educativa con la información disponible, logrando que al menos el 85% de directivos y profesores califiquen como “útiles y accionables” los reportes y dashboards al finalizar el primer año.</a:t>
            </a:r>
            <a:endParaRPr sz="1600"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Incrementar la eficacia del acompañamiento pedagógico y socioemocional, identificando correlaciones entre factores familiares y rendimiento escolar en al menos el 70% de los estudiantes.</a:t>
            </a:r>
            <a:endParaRPr sz="1600"/>
          </a:p>
          <a:p>
            <a:pPr indent="0" lvl="0" marL="0" rtl="0" algn="just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07" name="Google Shape;107;p6" title="272129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1354" y="42550"/>
            <a:ext cx="1512349" cy="1512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Alcances y limitaciones </a:t>
            </a:r>
            <a:endParaRPr/>
          </a:p>
        </p:txBody>
      </p:sp>
      <p:sp>
        <p:nvSpPr>
          <p:cNvPr id="113" name="Google Shape;113;p7"/>
          <p:cNvSpPr txBox="1"/>
          <p:nvPr>
            <p:ph idx="1" type="body"/>
          </p:nvPr>
        </p:nvSpPr>
        <p:spPr>
          <a:xfrm>
            <a:off x="311700" y="125287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1801"/>
              <a:buNone/>
            </a:pPr>
            <a:r>
              <a:rPr lang="es" sz="2300"/>
              <a:t>Alcances:</a:t>
            </a:r>
            <a:endParaRPr sz="2300"/>
          </a:p>
          <a:p>
            <a:pPr indent="-330835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Open Sans"/>
              <a:buChar char="●"/>
            </a:pPr>
            <a:r>
              <a:rPr lang="es" sz="2300"/>
              <a:t>Establecimientos de enseñanza básica y media</a:t>
            </a:r>
            <a:endParaRPr sz="2300"/>
          </a:p>
          <a:p>
            <a:pPr indent="-330835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Open Sans"/>
              <a:buChar char="●"/>
            </a:pPr>
            <a:r>
              <a:rPr lang="es" sz="2300"/>
              <a:t>Usuarios: docentes, directivos, estudiantes y apoderados</a:t>
            </a:r>
            <a:endParaRPr sz="2300"/>
          </a:p>
          <a:p>
            <a:pPr indent="-330835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Open Sans"/>
              <a:buChar char="●"/>
            </a:pPr>
            <a:r>
              <a:rPr lang="es" sz="2300"/>
              <a:t>Funcionalidades de gestión y análisis</a:t>
            </a:r>
            <a:endParaRPr sz="2300"/>
          </a:p>
          <a:p>
            <a:pPr indent="-330835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" sz="2300"/>
              <a:t>Desarrollar versión prototipo del producto final.</a:t>
            </a:r>
            <a:endParaRPr sz="23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1801"/>
              <a:buNone/>
            </a:pPr>
            <a:r>
              <a:rPr lang="es" sz="2300"/>
              <a:t>Limitaciones:</a:t>
            </a:r>
            <a:endParaRPr sz="2300"/>
          </a:p>
          <a:p>
            <a:pPr indent="-330835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Open Sans"/>
              <a:buChar char="●"/>
            </a:pPr>
            <a:r>
              <a:rPr lang="es" sz="2300"/>
              <a:t>11 semanas de desarrollo</a:t>
            </a:r>
            <a:endParaRPr sz="2300"/>
          </a:p>
          <a:p>
            <a:pPr indent="-330835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Open Sans"/>
              <a:buChar char="●"/>
            </a:pPr>
            <a:r>
              <a:rPr lang="es" sz="2300"/>
              <a:t>Recursos tecnológicos específicos</a:t>
            </a:r>
            <a:endParaRPr sz="2300"/>
          </a:p>
          <a:p>
            <a:pPr indent="-330835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Open Sans"/>
              <a:buChar char="●"/>
            </a:pPr>
            <a:r>
              <a:rPr lang="es" sz="2300"/>
              <a:t>Dependencia de servicios externos para despliegue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42857"/>
              <a:buNone/>
            </a:pPr>
            <a:r>
              <a:t/>
            </a:r>
            <a:endParaRPr/>
          </a:p>
        </p:txBody>
      </p:sp>
      <p:pic>
        <p:nvPicPr>
          <p:cNvPr id="114" name="Google Shape;114;p7" title="369674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1775" y="1344036"/>
            <a:ext cx="2455450" cy="2455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Metodología</a:t>
            </a:r>
            <a:endParaRPr/>
          </a:p>
        </p:txBody>
      </p:sp>
      <p:sp>
        <p:nvSpPr>
          <p:cNvPr id="120" name="Google Shape;120;p8"/>
          <p:cNvSpPr txBox="1"/>
          <p:nvPr>
            <p:ph idx="1" type="body"/>
          </p:nvPr>
        </p:nvSpPr>
        <p:spPr>
          <a:xfrm>
            <a:off x="311700" y="1266325"/>
            <a:ext cx="8520600" cy="3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Metodología </a:t>
            </a:r>
            <a:r>
              <a:rPr lang="es"/>
              <a:t>: Scrum modificado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Fases principales</a:t>
            </a:r>
            <a:endParaRPr b="1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Levantamiento de requisitos y Product Backlog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Sprint Planning (sprints de 1 a 4 semanas)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Desarrollo e implementación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Reuniones de seguimiento (3 por semana)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Pruebas e implementación en los últimos sprints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Roles</a:t>
            </a:r>
            <a:endParaRPr b="1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Product Owner: Kevin Carvajal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Scrum Master: Jorge Riffo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Equipo de desarrollo: Todos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b="1"/>
          </a:p>
        </p:txBody>
      </p:sp>
      <p:pic>
        <p:nvPicPr>
          <p:cNvPr id="121" name="Google Shape;121;p8" title="587322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3275" y="1041488"/>
            <a:ext cx="3060525" cy="306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Tecnologías y herramientas</a:t>
            </a:r>
            <a:endParaRPr/>
          </a:p>
        </p:txBody>
      </p:sp>
      <p:sp>
        <p:nvSpPr>
          <p:cNvPr id="127" name="Google Shape;127;p9"/>
          <p:cNvSpPr txBox="1"/>
          <p:nvPr>
            <p:ph idx="1" type="body"/>
          </p:nvPr>
        </p:nvSpPr>
        <p:spPr>
          <a:xfrm>
            <a:off x="311700" y="1266325"/>
            <a:ext cx="50748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rPr b="1" lang="es" u="sng"/>
              <a:t>Tecnologías</a:t>
            </a:r>
            <a:endParaRPr b="1" u="sng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rPr b="1" lang="es"/>
              <a:t>Frontend</a:t>
            </a:r>
            <a:r>
              <a:rPr lang="es"/>
              <a:t>: Vue.js, CSS, Tailwind, TypeScript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29032"/>
              <a:buNone/>
            </a:pPr>
            <a:r>
              <a:rPr b="1" lang="es"/>
              <a:t>Backend</a:t>
            </a:r>
            <a:r>
              <a:rPr lang="es"/>
              <a:t>: Node.js, JavaScript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29032"/>
              <a:buNone/>
            </a:pPr>
            <a:r>
              <a:rPr b="1" lang="es"/>
              <a:t>Base de Datos</a:t>
            </a:r>
            <a:r>
              <a:rPr lang="es"/>
              <a:t>: PostgreSQL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29032"/>
              <a:buNone/>
            </a:pPr>
            <a:r>
              <a:rPr b="1" lang="es" u="sng"/>
              <a:t>Herramientas</a:t>
            </a:r>
            <a:endParaRPr b="1" u="sng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29032"/>
              <a:buNone/>
            </a:pPr>
            <a:r>
              <a:rPr b="1" lang="es"/>
              <a:t>Herramientas de Desarrollo:</a:t>
            </a:r>
            <a:r>
              <a:rPr lang="es"/>
              <a:t> VS Code, GitHub, Jira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29032"/>
              <a:buNone/>
            </a:pPr>
            <a:r>
              <a:rPr b="1" lang="es"/>
              <a:t>Inteligencia de Negocios</a:t>
            </a:r>
            <a:r>
              <a:rPr lang="es"/>
              <a:t>: Looker Studio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29032"/>
              <a:buNone/>
            </a:pPr>
            <a:r>
              <a:rPr b="1" lang="es"/>
              <a:t>Pruebas</a:t>
            </a:r>
            <a:r>
              <a:rPr lang="es"/>
              <a:t>: JMeter, Jest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29032"/>
              <a:buNone/>
            </a:pPr>
            <a:r>
              <a:rPr b="1" lang="es"/>
              <a:t>Colaboración</a:t>
            </a:r>
            <a:r>
              <a:rPr lang="es"/>
              <a:t>: Discord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29032"/>
              <a:buNone/>
            </a:pPr>
            <a:r>
              <a:rPr b="1" lang="es"/>
              <a:t>Implementación</a:t>
            </a:r>
            <a:r>
              <a:rPr lang="es"/>
              <a:t>: GCP y Supabase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29032"/>
              <a:buNone/>
            </a:pPr>
            <a:r>
              <a:t/>
            </a:r>
            <a:endParaRPr/>
          </a:p>
        </p:txBody>
      </p:sp>
      <p:pic>
        <p:nvPicPr>
          <p:cNvPr id="128" name="Google Shape;12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3700" y="869675"/>
            <a:ext cx="2972101" cy="34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9700" y="1360675"/>
            <a:ext cx="2422150" cy="242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Cronograma </a:t>
            </a:r>
            <a:endParaRPr/>
          </a:p>
        </p:txBody>
      </p:sp>
      <p:sp>
        <p:nvSpPr>
          <p:cNvPr id="135" name="Google Shape;135;p10"/>
          <p:cNvSpPr txBox="1"/>
          <p:nvPr>
            <p:ph idx="1" type="body"/>
          </p:nvPr>
        </p:nvSpPr>
        <p:spPr>
          <a:xfrm>
            <a:off x="69325" y="1219775"/>
            <a:ext cx="64368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Semana 1 (Sprint 0): Planificación inicial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Semana 2 (Sprint 1): Construcción del sistema base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Semana 3 (Sprint 2) : Sistema de evaluaciones.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Semana 4 y 5 (Sprint 3): Sistema de asistencia y alertas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Semana 6 y 7 (Sprint 4): Encuestas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Semana 8 y 9 (Sprint 5): Inteligencia de negocios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Semana 10 (Sprint de estabilización): Testing y QA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Semana 11 (Sprint 6): Documentación y Deployment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Comentario Final</a:t>
            </a:r>
            <a:endParaRPr/>
          </a:p>
        </p:txBody>
      </p:sp>
      <p:sp>
        <p:nvSpPr>
          <p:cNvPr id="141" name="Google Shape;141;p11"/>
          <p:cNvSpPr txBox="1"/>
          <p:nvPr>
            <p:ph idx="1" type="body"/>
          </p:nvPr>
        </p:nvSpPr>
        <p:spPr>
          <a:xfrm>
            <a:off x="311700" y="1636900"/>
            <a:ext cx="852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i="1" lang="e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 proyecto Data School busca aportar valor al sector educativo mediante una solución tecnológica integral que combina gestión, comunicación y análisis de datos</a:t>
            </a:r>
            <a:endParaRPr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11" title="21905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6363" y="2744575"/>
            <a:ext cx="2071276" cy="2071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