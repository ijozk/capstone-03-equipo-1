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roMZ2s/W2a87upGRPocMeYZS+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penSans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5502607a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5502607a1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807e12b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e807e12b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5502607a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5502607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5502607a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5502607a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553" cy="4350553"/>
            <a:chOff x="0" y="0"/>
            <a:chExt cx="7633553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Jorge Riffo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Manuel Figueroa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Front End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Kevin Carvajal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Back End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23861" l="8502" r="28089" t="0"/>
          <a:stretch/>
        </p:blipFill>
        <p:spPr>
          <a:xfrm>
            <a:off x="4507925" y="3337850"/>
            <a:ext cx="1087775" cy="10965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" name="Google Shape;105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923" y="1844550"/>
            <a:ext cx="1087775" cy="1087775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106" name="Google Shape;106;p2" title="IMG-20250320-WA0003 (1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9175" y="4839875"/>
            <a:ext cx="985266" cy="1087776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identificar y no realizar seguimiento de factores que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afectan el rendimiento académico del estudiante.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toma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negocios utilizando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los estudiantes y de otros agentes que interfieren en su rendimiento, en un sistema web.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4"/>
          <p:cNvSpPr txBox="1"/>
          <p:nvPr/>
        </p:nvSpPr>
        <p:spPr>
          <a:xfrm>
            <a:off x="1" y="36257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una plataforma web que permita digitalizar la gestión académica y administrativa en establecimientos de enseñanza básica y media, optimizando la toma de decisiones del negocio respaldada por la información.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4525" y="4272250"/>
            <a:ext cx="10962900" cy="236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Incrementar la eficacia del acompañamiento pedagógico y socioemocional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identificando correlaciones entre factores familiares y rendimiento escolar en al menos el 30% de los estudiantes, en un periodo de un año</a:t>
            </a:r>
            <a:r>
              <a:rPr lang="es-CL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el desempeño académico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estudiantes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mediante la identificación y ajuste de asignaturas críticas (modificación de horarios, cambio de docente y mejora de hábitos de estudio), logrando un aumento en al menos el 70% de estas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asignaturas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un aumento mínimo de 0,2 puntos en el promedio final del curso durante el segundo año, en comparación con el año anterior.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6" name="Google Shape;136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5"/>
          <p:cNvSpPr/>
          <p:nvPr/>
        </p:nvSpPr>
        <p:spPr>
          <a:xfrm>
            <a:off x="714898" y="2169775"/>
            <a:ext cx="5129100" cy="4293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Roles de usuarios: Profesor, Estudiante/Tutor,  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completa de datos académicos (cursos, asignaturas, calificaciones, asistencia,  anotaciones)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encuestas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Vista de análisis por asiento, rendimiento y comportamiento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Modulo analitico, identificación de patrones.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75800" y="2177325"/>
            <a:ext cx="4785000" cy="43632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app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idioma Español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Conectividad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para establecimientos chilenos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Comunicacional (No contiene chat incluido)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6"/>
          <p:cNvSpPr txBox="1"/>
          <p:nvPr/>
        </p:nvSpPr>
        <p:spPr>
          <a:xfrm>
            <a:off x="1084650" y="2251300"/>
            <a:ext cx="9857400" cy="3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Kanban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metodología Kanban no requiere roles específicos, por lo que se adapta mejor a nuestro equipo.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mantener un flujo de trabajo continuo, donde las tareas pueden priorizarse de forma colaborativa según la carga y urgencia.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visualizar el progreso del proyecto mediante un tablero, sin necesidad de ciclos fijos de sprint.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equipo puede ajustar el flujo y mejorar los procesos mediante revisiones periódicas.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" y="906431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 realiza una planificación temporal </a:t>
            </a: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inicial para luego monitorear los avances por</a:t>
            </a: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Trello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6" name="Google Shape;15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51631"/>
            <a:ext cx="7925376" cy="475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2751" y="3043394"/>
            <a:ext cx="3809425" cy="257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0" y="113776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8" title="Diagramas_dataSchool-Arquitectura del sistema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1988" y="1784268"/>
            <a:ext cx="4460406" cy="476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13" y="117631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/>
          </a:p>
        </p:txBody>
      </p:sp>
      <p:cxnSp>
        <p:nvCxnSpPr>
          <p:cNvPr id="174" name="Google Shape;17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5" name="Google Shape;175;p9" title="Diagramas_dataSchool-Arquitectura de solucion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100" y="2006243"/>
            <a:ext cx="10652172" cy="473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0" y="8545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3" name="Google Shape;183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4" name="Google Shape;184;p10" title="DataModelDAtaScho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325" y="1617300"/>
            <a:ext cx="9450675" cy="517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g3a5502607a1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a5502607a1_1_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  <p:sp>
        <p:nvSpPr>
          <p:cNvPr id="191" name="Google Shape;191;g3a5502607a1_1_13"/>
          <p:cNvSpPr txBox="1"/>
          <p:nvPr/>
        </p:nvSpPr>
        <p:spPr>
          <a:xfrm>
            <a:off x="0" y="8545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- Encuestas</a:t>
            </a:r>
            <a:endParaRPr/>
          </a:p>
        </p:txBody>
      </p:sp>
      <p:cxnSp>
        <p:nvCxnSpPr>
          <p:cNvPr id="192" name="Google Shape;192;g3a5502607a1_1_1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3" name="Google Shape;193;g3a5502607a1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225" y="1597530"/>
            <a:ext cx="7096508" cy="505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g3ae807e12b2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ae807e12b2_0_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  <p:sp>
        <p:nvSpPr>
          <p:cNvPr id="200" name="Google Shape;200;g3ae807e12b2_0_3"/>
          <p:cNvSpPr txBox="1"/>
          <p:nvPr/>
        </p:nvSpPr>
        <p:spPr>
          <a:xfrm>
            <a:off x="-159500" y="3689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- Cursos</a:t>
            </a:r>
            <a:endParaRPr/>
          </a:p>
        </p:txBody>
      </p:sp>
      <p:pic>
        <p:nvPicPr>
          <p:cNvPr id="201" name="Google Shape;201;g3ae807e12b2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650" y="1167805"/>
            <a:ext cx="7070035" cy="5537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0" y="992901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11"/>
          <p:cNvSpPr txBox="1"/>
          <p:nvPr/>
        </p:nvSpPr>
        <p:spPr>
          <a:xfrm>
            <a:off x="557875" y="1854800"/>
            <a:ext cx="111885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arenR"/>
            </a:pPr>
            <a:r>
              <a:rPr b="1" lang="es-CL" sz="1700">
                <a:solidFill>
                  <a:schemeClr val="dk1"/>
                </a:solidFill>
              </a:rPr>
              <a:t>Rendimiento Académico Relacionado con Datos Socioeconómicos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¿Qué?</a:t>
            </a:r>
            <a:r>
              <a:rPr lang="es-CL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Correlación entre las condiciones socioeconómicas familiares de los estudiantes y su rendimiento académico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¿Por </a:t>
            </a:r>
            <a:r>
              <a:rPr b="1" lang="es-CL" sz="1700">
                <a:solidFill>
                  <a:schemeClr val="dk1"/>
                </a:solidFill>
              </a:rPr>
              <a:t>qué</a:t>
            </a:r>
            <a:r>
              <a:rPr b="1" lang="es-CL" sz="1700">
                <a:solidFill>
                  <a:schemeClr val="dk1"/>
                </a:solidFill>
              </a:rPr>
              <a:t>?: 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Para detectar estudiantes vulnerables y focalizar eficientemente los recursos de apoyo (becas, tutorías) en quienes más lo necesitan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¿Como? 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 Cruzando datos de encuestas socioeconómicas anuales con el rendimiento académico en dashboards interactivos por quintil.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Periodicidad</a:t>
            </a:r>
            <a:r>
              <a:rPr lang="es-CL" sz="1700">
                <a:solidFill>
                  <a:schemeClr val="dk1"/>
                </a:solidFill>
              </a:rPr>
              <a:t>: encuesta Anual y análisis semestral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5502607a1_0_10"/>
          <p:cNvSpPr txBox="1"/>
          <p:nvPr>
            <p:ph idx="1" type="subTitle"/>
          </p:nvPr>
        </p:nvSpPr>
        <p:spPr>
          <a:xfrm>
            <a:off x="712000" y="1285325"/>
            <a:ext cx="10726200" cy="537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2)  Rendimiento Relacionado con Horario de Clases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¿Qué?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Medir el impacto que tienen los distintos bloques horarios y días de la semana en las notas y la asistencia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¿Por qué?: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Para optimizar la malla curricular, ubicando las asignaturas críticas y evaluaciones en los horarios de mayor rendimiento cognitivo.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¿Como?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Utilizando mapas de calor que visualicen promedios de notas y asistencia segmentados por hora y día de la semana.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Periodicidad</a:t>
            </a:r>
            <a:r>
              <a:rPr lang="es-CL" sz="1700">
                <a:latin typeface="Arial"/>
                <a:ea typeface="Arial"/>
                <a:cs typeface="Arial"/>
                <a:sym typeface="Arial"/>
              </a:rPr>
              <a:t>: Recolección y análisis: Semestral</a:t>
            </a:r>
            <a:endParaRPr/>
          </a:p>
        </p:txBody>
      </p:sp>
      <p:sp>
        <p:nvSpPr>
          <p:cNvPr id="216" name="Google Shape;216;g3a5502607a1_0_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  <p:pic>
        <p:nvPicPr>
          <p:cNvPr descr="EscuelaIT Duoc UC - Escuela de Informática y Telecomunicaciones Duoc UC - Duoc  UC | LinkedIn" id="217" name="Google Shape;217;g3a5502607a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5502607a1_0_15"/>
          <p:cNvSpPr txBox="1"/>
          <p:nvPr>
            <p:ph idx="1" type="subTitle"/>
          </p:nvPr>
        </p:nvSpPr>
        <p:spPr>
          <a:xfrm>
            <a:off x="458875" y="890125"/>
            <a:ext cx="10955400" cy="603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3) Análisis de Convivencia y Rendimiento Académico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¿Qué?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Relacionar las anotaciones conductuales (positivas/negativas) y la ubicación en el aula con el éxito académico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¿Por qué?: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Para identificar tempranamente riesgos académicos causados por factores sociales y apoyar intervenciones basadas en evidencia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¿Como?: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s-CL" sz="1700">
                <a:latin typeface="Arial"/>
                <a:ea typeface="Arial"/>
                <a:cs typeface="Arial"/>
                <a:sym typeface="Arial"/>
              </a:rPr>
              <a:t>Integrando el registro de conducta y el mapa de asientos con las calificaciones para visualizar patrones de comportamiento.</a:t>
            </a:r>
            <a:br>
              <a:rPr lang="es-CL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latin typeface="Arial"/>
                <a:ea typeface="Arial"/>
                <a:cs typeface="Arial"/>
                <a:sym typeface="Arial"/>
              </a:rPr>
              <a:t>Periodicidad:</a:t>
            </a:r>
            <a:br>
              <a:rPr b="1" lang="es-CL" sz="1700">
                <a:latin typeface="Arial"/>
                <a:ea typeface="Arial"/>
                <a:cs typeface="Arial"/>
                <a:sym typeface="Arial"/>
              </a:rPr>
            </a:br>
            <a:r>
              <a:rPr lang="es-CL" sz="1700">
                <a:latin typeface="Arial"/>
                <a:ea typeface="Arial"/>
                <a:cs typeface="Arial"/>
                <a:sym typeface="Arial"/>
              </a:rPr>
              <a:t> Mensual con revisión semestral.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a5502607a1_0_15"/>
          <p:cNvSpPr txBox="1"/>
          <p:nvPr/>
        </p:nvSpPr>
        <p:spPr>
          <a:xfrm>
            <a:off x="1244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  <p:pic>
        <p:nvPicPr>
          <p:cNvPr descr="EscuelaIT Duoc UC - Escuela de Informática y Telecomunicaciones Duoc UC - Duoc  UC | LinkedIn" id="224" name="Google Shape;224;g3a5502607a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DATA SCHOOL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0" y="11521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32" name="Google Shape;232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12"/>
          <p:cNvSpPr txBox="1"/>
          <p:nvPr/>
        </p:nvSpPr>
        <p:spPr>
          <a:xfrm>
            <a:off x="324575" y="2263325"/>
            <a:ext cx="11470800" cy="4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Vue.js, TailwindCSS, TypeScript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23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Node.js + Express , </a:t>
            </a:r>
            <a:r>
              <a:rPr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23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23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23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Conexión</a:t>
            </a:r>
            <a:r>
              <a:rPr b="1"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base de Datos</a:t>
            </a:r>
            <a:r>
              <a:rPr lang="es-CL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Supabase SDK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4" name="Google Shape;234;p12" title="Vue.js_Logo_2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5849" y="2324400"/>
            <a:ext cx="798198" cy="69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2" title="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6900" y="2324400"/>
            <a:ext cx="691400" cy="6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 title="supabas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0550" y="4672525"/>
            <a:ext cx="923275" cy="92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2" title="Node.js_logo.sv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054" y="3234025"/>
            <a:ext cx="1893852" cy="115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 title="icons8-express-j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04652" y="3141988"/>
            <a:ext cx="1133750" cy="11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  <p:sp>
        <p:nvSpPr>
          <p:cNvPr id="246" name="Google Shape;246;p13"/>
          <p:cNvSpPr txBox="1"/>
          <p:nvPr/>
        </p:nvSpPr>
        <p:spPr>
          <a:xfrm>
            <a:off x="527075" y="2579850"/>
            <a:ext cx="111114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completa de cursos y asignaturas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calificaciones con cálculo automático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asistencia y anotaciones operativo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 Académico Integrado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Talleres Extracurriculares y eventos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sala visual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Reportabilidad Básica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1" name="Google Shape;2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 txBox="1"/>
          <p:nvPr/>
        </p:nvSpPr>
        <p:spPr>
          <a:xfrm>
            <a:off x="1" y="106794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678900" y="2167175"/>
            <a:ext cx="108342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CL" sz="2800">
                <a:solidFill>
                  <a:schemeClr val="dk1"/>
                </a:solidFill>
              </a:rPr>
              <a:t>Cambio de </a:t>
            </a:r>
            <a:r>
              <a:rPr lang="es-CL" sz="2800">
                <a:solidFill>
                  <a:schemeClr val="dk1"/>
                </a:solidFill>
              </a:rPr>
              <a:t>metodología</a:t>
            </a:r>
            <a:r>
              <a:rPr lang="es-CL" sz="2800">
                <a:solidFill>
                  <a:schemeClr val="dk1"/>
                </a:solidFill>
              </a:rPr>
              <a:t> a KanBan.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CL" sz="2800">
                <a:solidFill>
                  <a:schemeClr val="dk1"/>
                </a:solidFill>
              </a:rPr>
              <a:t>Falta de tiempo.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CL" sz="2800">
                <a:solidFill>
                  <a:schemeClr val="dk1"/>
                </a:solidFill>
              </a:rPr>
              <a:t>Complejidad de la base de datos.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CL" sz="2800">
                <a:solidFill>
                  <a:schemeClr val="dk1"/>
                </a:solidFill>
              </a:rPr>
              <a:t>Falta de conocimientos de </a:t>
            </a:r>
            <a:r>
              <a:rPr lang="es-CL" sz="2800">
                <a:solidFill>
                  <a:schemeClr val="dk1"/>
                </a:solidFill>
              </a:rPr>
              <a:t>tecnologías</a:t>
            </a:r>
            <a:r>
              <a:rPr lang="es-CL" sz="2800">
                <a:solidFill>
                  <a:schemeClr val="dk1"/>
                </a:solidFill>
              </a:rPr>
              <a:t> utilizadas. (Curva de aprendizaje)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CL" sz="2800">
                <a:solidFill>
                  <a:schemeClr val="dk1"/>
                </a:solidFill>
              </a:rPr>
              <a:t>Falta de experiencia en el </a:t>
            </a:r>
            <a:r>
              <a:rPr lang="es-CL" sz="2800">
                <a:solidFill>
                  <a:schemeClr val="dk1"/>
                </a:solidFill>
              </a:rPr>
              <a:t>área</a:t>
            </a:r>
            <a:r>
              <a:rPr lang="es-CL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“DATA SCHOOL”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9" name="Google Shape;2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Cierre de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