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</p:sldIdLst>
  <p:sldSz cy="6858000" cx="12192000"/>
  <p:notesSz cx="6858000" cy="9144000"/>
  <p:embeddedFontLst>
    <p:embeddedFont>
      <p:font typeface="Open Sans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7" roundtripDataSignature="AMtx7mhINJxbPyyuLqg3HZJP/aoiHVNp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font" Target="fonts/OpenSans-bold.fntdata"/><Relationship Id="rId23" Type="http://schemas.openxmlformats.org/officeDocument/2006/relationships/font" Target="fonts/OpenSans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OpenSans-boldItalic.fntdata"/><Relationship Id="rId25" Type="http://schemas.openxmlformats.org/officeDocument/2006/relationships/font" Target="fonts/OpenSans-italic.fntdata"/><Relationship Id="rId27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a5502607a1_1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g3a5502607a1_1_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a5502607a1_0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a5502607a1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a5502607a1_0_1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a5502607a1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0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2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2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2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2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2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7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7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8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8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9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0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0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 dir="l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jpg"/><Relationship Id="rId4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jpg"/><Relationship Id="rId4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jpg"/><Relationship Id="rId4" Type="http://schemas.openxmlformats.org/officeDocument/2006/relationships/hyperlink" Target="http://node.js" TargetMode="External"/><Relationship Id="rId9" Type="http://schemas.openxmlformats.org/officeDocument/2006/relationships/image" Target="../media/image8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jp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jp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707792"/>
            <a:ext cx="12192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FINAL CAPSTONE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90" name="Google Shape;9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2"/>
          <p:cNvGrpSpPr/>
          <p:nvPr/>
        </p:nvGrpSpPr>
        <p:grpSpPr>
          <a:xfrm>
            <a:off x="4121026" y="1710819"/>
            <a:ext cx="7633553" cy="4350553"/>
            <a:chOff x="0" y="0"/>
            <a:chExt cx="7633553" cy="4350553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Jorge Riffo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Jefe de Proyecto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</a:t>
              </a: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Full Stack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p2"/>
            <p:cNvSpPr txBox="1"/>
            <p:nvPr/>
          </p:nvSpPr>
          <p:spPr>
            <a:xfrm>
              <a:off x="1662653" y="1495502"/>
              <a:ext cx="5970900" cy="135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Manuel Figueroa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</a:t>
              </a:r>
              <a:endParaRPr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Front End</a:t>
              </a:r>
              <a:endParaRPr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Kevin Carvajal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Front End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1" name="Google Shape;101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3" name="Google Shape;103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  <p:transition spd="slow">
    <p:wipe dir="l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08" name="Google Shape;10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10" name="Google Shape;110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2" name="Google Shape;112;p3"/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/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seguimiento e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identificación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 factores que disminuyen o afectan el rendimiento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académico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del estudiante.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-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Mejorar la toma de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decisiones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del negocios utilizando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información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 los estudiantes y de otros agentes que interfieren en su rendimiento, en un sistema web.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19" name="Google Shape;11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21" name="Google Shape;121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2" name="Google Shape;122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3" name="Google Shape;123;p4"/>
          <p:cNvSpPr txBox="1"/>
          <p:nvPr/>
        </p:nvSpPr>
        <p:spPr>
          <a:xfrm>
            <a:off x="1" y="3625746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07916"/>
              </a:lnSpc>
              <a:spcBef>
                <a:spcPts val="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e implementar una plataforma web que permita digitalizar la gestión académica y administrativa en establecimientos de enseñanza básica y media, optimizando la toma de decisiones del negocio respaldada por la información.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614525" y="4272250"/>
            <a:ext cx="10962900" cy="23607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45720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Implementar sistema de autenticación con RBAC para los distintos roles, logrando 100% de funcionalidades accesibles según permisos en 8 semanas.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módulo de gestión académica que permita el registro completo de cursos, asignaturas, evaluaciones y notas con cálculo automático de promedios, alcanzando 100% de operaciones CRUD funcionales en 8 semanas.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30" name="Google Shape;13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5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32" name="Google Shape;132;p5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 y limitaciones del proyecto</a:t>
            </a:r>
            <a:endParaRPr/>
          </a:p>
        </p:txBody>
      </p:sp>
      <p:cxnSp>
        <p:nvCxnSpPr>
          <p:cNvPr id="133" name="Google Shape;133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4" name="Google Shape;134;p5"/>
          <p:cNvSpPr/>
          <p:nvPr/>
        </p:nvSpPr>
        <p:spPr>
          <a:xfrm>
            <a:off x="714898" y="2169775"/>
            <a:ext cx="5129100" cy="42936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</a:t>
            </a:r>
            <a:endParaRPr sz="2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 Roles de usuarios: Profesor, Estudiante/Tutor, Administrador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Gestión completa de datos académicos (cursos, asignaturas, calificaciones, asistencia)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Sistema de encuestas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6475800" y="2177325"/>
            <a:ext cx="4785000" cy="43632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Limitaciones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-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Apartado de inteligencia de negocios pendiente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-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Vista de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análisis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por asiento, rendimiento y comportamiento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0" name="Google Shape;14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6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42" name="Google Shape;142;p6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3" name="Google Shape;143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4" name="Google Shape;144;p6"/>
          <p:cNvSpPr txBox="1"/>
          <p:nvPr/>
        </p:nvSpPr>
        <p:spPr>
          <a:xfrm>
            <a:off x="1084650" y="2251300"/>
            <a:ext cx="9857400" cy="422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</a:t>
            </a:r>
            <a:r>
              <a:rPr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Kanban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●"/>
            </a:pPr>
            <a:r>
              <a:rPr lang="es-CL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metodología Kanban no requiere roles específicos, por lo que se adapta mejor a nuestro equipo.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●"/>
            </a:pPr>
            <a:r>
              <a:rPr lang="es-CL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Permite mantener un flujo de trabajo continuo, donde las tareas pueden priorizarse de forma colaborativa según la carga y urgencia.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●"/>
            </a:pPr>
            <a:r>
              <a:rPr lang="es-CL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Facilita visualizar el progreso del proyecto mediante un tablero, sin necesidad de ciclos fijos de sprint.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just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●"/>
            </a:pPr>
            <a:r>
              <a:rPr lang="es-CL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 equipo puede ajustar el flujo y mejorar los procesos mediante revisiones periódicas.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9" name="Google Shape;14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7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51" name="Google Shape;151;p7"/>
          <p:cNvSpPr txBox="1"/>
          <p:nvPr/>
        </p:nvSpPr>
        <p:spPr>
          <a:xfrm>
            <a:off x="1" y="906431"/>
            <a:ext cx="121920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Planificación Temporal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Se realiza una planificación temporal </a:t>
            </a:r>
            <a:r>
              <a:rPr lang="es-CL" sz="16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inicial para luego monitorear los avances por</a:t>
            </a:r>
            <a:r>
              <a:rPr lang="es-CL" sz="16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 Trello</a:t>
            </a:r>
            <a:endParaRPr sz="10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2" name="Google Shape;152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53" name="Google Shape;153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951631"/>
            <a:ext cx="7925376" cy="475396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222751" y="3043394"/>
            <a:ext cx="3809425" cy="2570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9" name="Google Shape;15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61" name="Google Shape;161;p8"/>
          <p:cNvSpPr txBox="1"/>
          <p:nvPr/>
        </p:nvSpPr>
        <p:spPr>
          <a:xfrm>
            <a:off x="0" y="143265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/>
          </a:p>
        </p:txBody>
      </p:sp>
      <p:cxnSp>
        <p:nvCxnSpPr>
          <p:cNvPr id="162" name="Google Shape;162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63" name="Google Shape;163;p8" title="Diagramas_dataSchool-Arquitectura del sistema.drawio (1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68600" y="2190655"/>
            <a:ext cx="5389873" cy="44740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68" name="Google Shape;16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9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70" name="Google Shape;170;p9"/>
          <p:cNvSpPr txBox="1"/>
          <p:nvPr/>
        </p:nvSpPr>
        <p:spPr>
          <a:xfrm>
            <a:off x="0" y="143265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 la solución</a:t>
            </a:r>
            <a:endParaRPr/>
          </a:p>
        </p:txBody>
      </p:sp>
      <p:cxnSp>
        <p:nvCxnSpPr>
          <p:cNvPr id="171" name="Google Shape;171;p9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72" name="Google Shape;172;p9" title="Diagramas_dataSchool-Página-3.drawi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65263" y="2254955"/>
            <a:ext cx="6661468" cy="44740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77" name="Google Shape;17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0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79" name="Google Shape;179;p10"/>
          <p:cNvSpPr txBox="1"/>
          <p:nvPr/>
        </p:nvSpPr>
        <p:spPr>
          <a:xfrm>
            <a:off x="0" y="854530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de datos</a:t>
            </a:r>
            <a:endParaRPr/>
          </a:p>
        </p:txBody>
      </p:sp>
      <p:cxnSp>
        <p:nvCxnSpPr>
          <p:cNvPr id="180" name="Google Shape;180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81" name="Google Shape;181;p10" title="DataModelDAtaSchool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22325" y="1617300"/>
            <a:ext cx="9450675" cy="5170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86" name="Google Shape;186;g3a5502607a1_1_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g3a5502607a1_1_13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“DATA SCHOOL”</a:t>
            </a:r>
            <a:endParaRPr/>
          </a:p>
        </p:txBody>
      </p:sp>
      <p:sp>
        <p:nvSpPr>
          <p:cNvPr id="188" name="Google Shape;188;g3a5502607a1_1_13"/>
          <p:cNvSpPr txBox="1"/>
          <p:nvPr/>
        </p:nvSpPr>
        <p:spPr>
          <a:xfrm>
            <a:off x="0" y="854530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de datos - Encuestas</a:t>
            </a:r>
            <a:endParaRPr/>
          </a:p>
        </p:txBody>
      </p:sp>
      <p:cxnSp>
        <p:nvCxnSpPr>
          <p:cNvPr id="189" name="Google Shape;189;g3a5502607a1_1_13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90" name="Google Shape;190;g3a5502607a1_1_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11225" y="1597530"/>
            <a:ext cx="7096508" cy="50521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95" name="Google Shape;195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1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97" name="Google Shape;197;p11"/>
          <p:cNvSpPr txBox="1"/>
          <p:nvPr/>
        </p:nvSpPr>
        <p:spPr>
          <a:xfrm>
            <a:off x="0" y="992901"/>
            <a:ext cx="121920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Elementos Analíticos a Incorporar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98" name="Google Shape;198;p11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99" name="Google Shape;199;p11"/>
          <p:cNvSpPr txBox="1"/>
          <p:nvPr/>
        </p:nvSpPr>
        <p:spPr>
          <a:xfrm>
            <a:off x="557875" y="1854800"/>
            <a:ext cx="11188500" cy="50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2000"/>
              <a:buAutoNum type="arabicParenR"/>
            </a:pPr>
            <a:r>
              <a:rPr b="1" lang="es-CL" sz="1700">
                <a:solidFill>
                  <a:schemeClr val="dk1"/>
                </a:solidFill>
              </a:rPr>
              <a:t>Rendimiento Académico Relacionado con Datos Socioeconómicos</a:t>
            </a:r>
            <a:endParaRPr b="1"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None/>
            </a:pPr>
            <a:r>
              <a:rPr b="1" lang="es-CL" sz="1700">
                <a:solidFill>
                  <a:schemeClr val="dk1"/>
                </a:solidFill>
              </a:rPr>
              <a:t>¿Qué?</a:t>
            </a:r>
            <a:r>
              <a:rPr lang="es-CL" sz="1700">
                <a:solidFill>
                  <a:schemeClr val="dk1"/>
                </a:solidFill>
              </a:rPr>
              <a:t> Correlación entre las condiciones socioeconómicas familiares de los estudiantes y su rendimiento académico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None/>
            </a:pPr>
            <a:r>
              <a:rPr b="1" lang="es-CL" sz="1700">
                <a:solidFill>
                  <a:schemeClr val="dk1"/>
                </a:solidFill>
              </a:rPr>
              <a:t>¿Por </a:t>
            </a:r>
            <a:r>
              <a:rPr b="1" lang="es-CL" sz="1700">
                <a:solidFill>
                  <a:schemeClr val="dk1"/>
                </a:solidFill>
              </a:rPr>
              <a:t>qué</a:t>
            </a:r>
            <a:r>
              <a:rPr b="1" lang="es-CL" sz="1700">
                <a:solidFill>
                  <a:schemeClr val="dk1"/>
                </a:solidFill>
              </a:rPr>
              <a:t>?: </a:t>
            </a:r>
            <a:endParaRPr b="1"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s-CL" sz="1700">
                <a:solidFill>
                  <a:schemeClr val="dk1"/>
                </a:solidFill>
              </a:rPr>
              <a:t>Identificar estudiantes vulnerables que necesitan apoyo (becas, útiles, apoyo psicosocial)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s-CL" sz="1700">
                <a:solidFill>
                  <a:schemeClr val="dk1"/>
                </a:solidFill>
              </a:rPr>
              <a:t>Focalizar recursos en quienes más lo necesitan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s-CL" sz="1700">
                <a:solidFill>
                  <a:schemeClr val="dk1"/>
                </a:solidFill>
              </a:rPr>
              <a:t>Diseñar intervenciones específicas por grupo (talleres, préstamo de equipos)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None/>
            </a:pPr>
            <a:r>
              <a:rPr b="1" lang="es-CL" sz="1700">
                <a:solidFill>
                  <a:schemeClr val="dk1"/>
                </a:solidFill>
              </a:rPr>
              <a:t>¿Como? </a:t>
            </a:r>
            <a:endParaRPr b="1"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s-CL" sz="1700">
                <a:solidFill>
                  <a:schemeClr val="dk1"/>
                </a:solidFill>
              </a:rPr>
              <a:t>Encuesta socioeconómica obligatoria (ingresos, educación padres, acceso tecnológico)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s-CL" sz="1700">
                <a:solidFill>
                  <a:schemeClr val="dk1"/>
                </a:solidFill>
              </a:rPr>
              <a:t>Dashboards: Promedio por quintil, dispersión ingreso vs notas, mapa de calor variables críticas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None/>
            </a:pPr>
            <a:r>
              <a:rPr b="1" lang="es-CL" sz="1700">
                <a:solidFill>
                  <a:schemeClr val="dk1"/>
                </a:solidFill>
              </a:rPr>
              <a:t>Periodicidad</a:t>
            </a:r>
            <a:r>
              <a:rPr lang="es-CL" sz="1700">
                <a:solidFill>
                  <a:schemeClr val="dk1"/>
                </a:solidFill>
              </a:rPr>
              <a:t>: encuesta Anual y análisis semestral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000"/>
              </a:spcBef>
              <a:spcAft>
                <a:spcPts val="60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a5502607a1_0_10"/>
          <p:cNvSpPr txBox="1"/>
          <p:nvPr>
            <p:ph idx="1" type="subTitle"/>
          </p:nvPr>
        </p:nvSpPr>
        <p:spPr>
          <a:xfrm>
            <a:off x="712000" y="1285325"/>
            <a:ext cx="10726200" cy="5378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None/>
            </a:pPr>
            <a:r>
              <a:rPr b="1" lang="es-CL" sz="1700">
                <a:latin typeface="Arial"/>
                <a:ea typeface="Arial"/>
                <a:cs typeface="Arial"/>
                <a:sym typeface="Arial"/>
              </a:rPr>
              <a:t>2)  Rendimiento Relacionado con Horario de Clases</a:t>
            </a:r>
            <a:endParaRPr b="1"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700">
                <a:latin typeface="Arial"/>
                <a:ea typeface="Arial"/>
                <a:cs typeface="Arial"/>
                <a:sym typeface="Arial"/>
              </a:rPr>
              <a:t>¿Qué? </a:t>
            </a:r>
            <a:r>
              <a:rPr lang="es-CL" sz="1700">
                <a:latin typeface="Arial"/>
                <a:ea typeface="Arial"/>
                <a:cs typeface="Arial"/>
                <a:sym typeface="Arial"/>
              </a:rPr>
              <a:t>Impacto del horario de clases (hora del día, día de la semana) en rendimiento y asistencia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700">
                <a:latin typeface="Arial"/>
                <a:ea typeface="Arial"/>
                <a:cs typeface="Arial"/>
                <a:sym typeface="Arial"/>
              </a:rPr>
              <a:t>¿Por qué?: </a:t>
            </a:r>
            <a:endParaRPr b="1"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SzPts val="1700"/>
              <a:buChar char="●"/>
            </a:pPr>
            <a:r>
              <a:rPr lang="es-CL" sz="1700">
                <a:latin typeface="Arial"/>
                <a:ea typeface="Arial"/>
                <a:cs typeface="Arial"/>
                <a:sym typeface="Arial"/>
              </a:rPr>
              <a:t>Optimizar distribución de asignaturas críticas en mejores bloques horarios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s-CL" sz="1700">
                <a:latin typeface="Arial"/>
                <a:ea typeface="Arial"/>
                <a:cs typeface="Arial"/>
                <a:sym typeface="Arial"/>
              </a:rPr>
              <a:t>Evitar evaluaciones en horarios de bajo rendimiento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s-CL" sz="1700">
                <a:latin typeface="Arial"/>
                <a:ea typeface="Arial"/>
                <a:cs typeface="Arial"/>
                <a:sym typeface="Arial"/>
              </a:rPr>
              <a:t>Mejorar asistencia con horarios óptimos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s-CL" sz="1700">
                <a:latin typeface="Arial"/>
                <a:ea typeface="Arial"/>
                <a:cs typeface="Arial"/>
                <a:sym typeface="Arial"/>
              </a:rPr>
              <a:t>Fundamentar cambios en malla horaria con datos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700">
                <a:latin typeface="Arial"/>
                <a:ea typeface="Arial"/>
                <a:cs typeface="Arial"/>
                <a:sym typeface="Arial"/>
              </a:rPr>
              <a:t>¿Como? </a:t>
            </a:r>
            <a:endParaRPr b="1"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SzPts val="1700"/>
              <a:buChar char="●"/>
            </a:pPr>
            <a:r>
              <a:rPr lang="es-CL" sz="1700">
                <a:latin typeface="Arial"/>
                <a:ea typeface="Arial"/>
                <a:cs typeface="Arial"/>
                <a:sym typeface="Arial"/>
              </a:rPr>
              <a:t>Segmentación por bloques y días de semana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s-CL" sz="1700">
                <a:latin typeface="Arial"/>
                <a:ea typeface="Arial"/>
                <a:cs typeface="Arial"/>
                <a:sym typeface="Arial"/>
              </a:rPr>
              <a:t>Calcular por segmento: Promedio de notas, % asistencia, observaciones conductuales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s-CL" sz="1700">
                <a:latin typeface="Arial"/>
                <a:ea typeface="Arial"/>
                <a:cs typeface="Arial"/>
                <a:sym typeface="Arial"/>
              </a:rPr>
              <a:t>Visualización: Mapa de calor rendimiento por hora/día</a:t>
            </a:r>
            <a:endParaRPr sz="17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700">
                <a:latin typeface="Arial"/>
                <a:ea typeface="Arial"/>
                <a:cs typeface="Arial"/>
                <a:sym typeface="Arial"/>
              </a:rPr>
              <a:t>Periodicidad</a:t>
            </a:r>
            <a:r>
              <a:rPr lang="es-CL" sz="1700">
                <a:latin typeface="Arial"/>
                <a:ea typeface="Arial"/>
                <a:cs typeface="Arial"/>
                <a:sym typeface="Arial"/>
              </a:rPr>
              <a:t>: Recolección y análisis: Semestral</a:t>
            </a:r>
            <a:endParaRPr/>
          </a:p>
        </p:txBody>
      </p:sp>
      <p:sp>
        <p:nvSpPr>
          <p:cNvPr id="205" name="Google Shape;205;g3a5502607a1_0_10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“DATA SCHOOL”</a:t>
            </a:r>
            <a:endParaRPr/>
          </a:p>
        </p:txBody>
      </p:sp>
      <p:pic>
        <p:nvPicPr>
          <p:cNvPr descr="EscuelaIT Duoc UC - Escuela de Informática y Telecomunicaciones Duoc UC - Duoc  UC | LinkedIn" id="206" name="Google Shape;206;g3a5502607a1_0_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a5502607a1_0_15"/>
          <p:cNvSpPr txBox="1"/>
          <p:nvPr>
            <p:ph idx="1" type="subTitle"/>
          </p:nvPr>
        </p:nvSpPr>
        <p:spPr>
          <a:xfrm>
            <a:off x="458875" y="890125"/>
            <a:ext cx="10955400" cy="6037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500">
                <a:latin typeface="Arial"/>
                <a:ea typeface="Arial"/>
                <a:cs typeface="Arial"/>
                <a:sym typeface="Arial"/>
              </a:rPr>
              <a:t>Análisis de Convivencia y Rendimiento Académico</a:t>
            </a:r>
            <a:endParaRPr b="1" sz="1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700">
                <a:latin typeface="Arial"/>
                <a:ea typeface="Arial"/>
                <a:cs typeface="Arial"/>
                <a:sym typeface="Arial"/>
              </a:rPr>
              <a:t>¿Qué?</a:t>
            </a:r>
            <a:br>
              <a:rPr b="1" lang="es-CL" sz="1500">
                <a:latin typeface="Arial"/>
                <a:ea typeface="Arial"/>
                <a:cs typeface="Arial"/>
                <a:sym typeface="Arial"/>
              </a:rPr>
            </a:br>
            <a:r>
              <a:rPr lang="es-CL" sz="1500">
                <a:latin typeface="Arial"/>
                <a:ea typeface="Arial"/>
                <a:cs typeface="Arial"/>
                <a:sym typeface="Arial"/>
              </a:rPr>
              <a:t> Relacionar las anotaciones positivas y negativas, la dinámica social del aula y el rendimiento académico de los estudiantes.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None/>
            </a:pPr>
            <a:r>
              <a:rPr b="1" lang="es-CL" sz="1700">
                <a:latin typeface="Arial"/>
                <a:ea typeface="Arial"/>
                <a:cs typeface="Arial"/>
                <a:sym typeface="Arial"/>
              </a:rPr>
              <a:t>¿Por qué?: </a:t>
            </a:r>
            <a:endParaRPr b="1"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00"/>
              <a:buChar char="●"/>
            </a:pPr>
            <a:r>
              <a:rPr lang="es-CL" sz="1500">
                <a:latin typeface="Arial"/>
                <a:ea typeface="Arial"/>
                <a:cs typeface="Arial"/>
                <a:sym typeface="Arial"/>
              </a:rPr>
              <a:t>Detectar cómo la convivencia afecta las notas.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s-CL" sz="1500">
                <a:latin typeface="Arial"/>
                <a:ea typeface="Arial"/>
                <a:cs typeface="Arial"/>
                <a:sym typeface="Arial"/>
              </a:rPr>
              <a:t>Identificar estudiantes en riesgo por factores sociales.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s-CL" sz="1500">
                <a:latin typeface="Arial"/>
                <a:ea typeface="Arial"/>
                <a:cs typeface="Arial"/>
                <a:sym typeface="Arial"/>
              </a:rPr>
              <a:t>Apoyar decisiones de intervención basadas en evidencia.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None/>
            </a:pPr>
            <a:r>
              <a:rPr b="1" lang="es-CL" sz="1700">
                <a:latin typeface="Arial"/>
                <a:ea typeface="Arial"/>
                <a:cs typeface="Arial"/>
                <a:sym typeface="Arial"/>
              </a:rPr>
              <a:t>¿Como?:</a:t>
            </a:r>
            <a:endParaRPr b="1"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00"/>
              <a:buChar char="●"/>
            </a:pPr>
            <a:r>
              <a:rPr lang="es-CL" sz="1500">
                <a:latin typeface="Arial"/>
                <a:ea typeface="Arial"/>
                <a:cs typeface="Arial"/>
                <a:sym typeface="Arial"/>
              </a:rPr>
              <a:t>Registrar anotaciones por estudiante.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s-CL" sz="1500">
                <a:latin typeface="Arial"/>
                <a:ea typeface="Arial"/>
                <a:cs typeface="Arial"/>
                <a:sym typeface="Arial"/>
              </a:rPr>
              <a:t>Cons</a:t>
            </a:r>
            <a:r>
              <a:rPr lang="es-CL" sz="1500"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s-CL" sz="1500">
                <a:latin typeface="Arial"/>
                <a:ea typeface="Arial"/>
                <a:cs typeface="Arial"/>
                <a:sym typeface="Arial"/>
              </a:rPr>
              <a:t>derar ubicación en sala y compañeros cercanos.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s-CL" sz="1500">
                <a:latin typeface="Arial"/>
                <a:ea typeface="Arial"/>
                <a:cs typeface="Arial"/>
                <a:sym typeface="Arial"/>
              </a:rPr>
              <a:t>Cruzar datos con promedios académicos.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s-CL" sz="1500">
                <a:latin typeface="Arial"/>
                <a:ea typeface="Arial"/>
                <a:cs typeface="Arial"/>
                <a:sym typeface="Arial"/>
              </a:rPr>
              <a:t>Visualizaciones: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s-CL" sz="1500">
                <a:latin typeface="Arial"/>
                <a:ea typeface="Arial"/>
                <a:cs typeface="Arial"/>
                <a:sym typeface="Arial"/>
              </a:rPr>
              <a:t>Gráfico conducta vs notas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s-CL" sz="1500">
                <a:latin typeface="Arial"/>
                <a:ea typeface="Arial"/>
                <a:cs typeface="Arial"/>
                <a:sym typeface="Arial"/>
              </a:rPr>
              <a:t>Mapa de aula con convivencia y rendimiento</a:t>
            </a:r>
            <a:br>
              <a:rPr lang="es-CL" sz="1500">
                <a:latin typeface="Arial"/>
                <a:ea typeface="Arial"/>
                <a:cs typeface="Arial"/>
                <a:sym typeface="Arial"/>
              </a:rPr>
            </a:b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500">
                <a:latin typeface="Arial"/>
                <a:ea typeface="Arial"/>
                <a:cs typeface="Arial"/>
                <a:sym typeface="Arial"/>
              </a:rPr>
              <a:t>Periodicidad:</a:t>
            </a:r>
            <a:br>
              <a:rPr b="1" lang="es-CL" sz="1500">
                <a:latin typeface="Arial"/>
                <a:ea typeface="Arial"/>
                <a:cs typeface="Arial"/>
                <a:sym typeface="Arial"/>
              </a:rPr>
            </a:br>
            <a:r>
              <a:rPr lang="es-CL" sz="1500">
                <a:latin typeface="Arial"/>
                <a:ea typeface="Arial"/>
                <a:cs typeface="Arial"/>
                <a:sym typeface="Arial"/>
              </a:rPr>
              <a:t> Mensual con revisión semestral.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1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g3a5502607a1_0_15"/>
          <p:cNvSpPr txBox="1"/>
          <p:nvPr/>
        </p:nvSpPr>
        <p:spPr>
          <a:xfrm>
            <a:off x="1244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“DATA SCHOOL”</a:t>
            </a:r>
            <a:endParaRPr/>
          </a:p>
        </p:txBody>
      </p:sp>
      <p:pic>
        <p:nvPicPr>
          <p:cNvPr descr="EscuelaIT Duoc UC - Escuela de Informática y Telecomunicaciones Duoc UC - Duoc  UC | LinkedIn" id="213" name="Google Shape;213;g3a5502607a1_0_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18" name="Google Shape;218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1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DATA SCHOOL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220" name="Google Shape;220;p12"/>
          <p:cNvSpPr txBox="1"/>
          <p:nvPr/>
        </p:nvSpPr>
        <p:spPr>
          <a:xfrm>
            <a:off x="0" y="1152180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/>
          </a:p>
        </p:txBody>
      </p:sp>
      <p:cxnSp>
        <p:nvCxnSpPr>
          <p:cNvPr id="221" name="Google Shape;221;p1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22" name="Google Shape;222;p12"/>
          <p:cNvSpPr txBox="1"/>
          <p:nvPr/>
        </p:nvSpPr>
        <p:spPr>
          <a:xfrm>
            <a:off x="324575" y="2387500"/>
            <a:ext cx="11470800" cy="422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es-CL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s-CL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Vue.js, TailwindCSS, TypeScript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323"/>
              <a:buFont typeface="Arial"/>
              <a:buNone/>
            </a:pPr>
            <a:r>
              <a:rPr b="1" lang="es-CL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Backend</a:t>
            </a:r>
            <a:r>
              <a:rPr lang="es-CL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s-CL" sz="18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Node.js</a:t>
            </a:r>
            <a:r>
              <a:rPr lang="es-CL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+Express , </a:t>
            </a:r>
            <a:r>
              <a:rPr lang="es-CL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TypeScript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323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323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323"/>
              <a:buFont typeface="Arial"/>
              <a:buNone/>
            </a:pPr>
            <a:r>
              <a:rPr b="1" lang="es-CL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Base de Datos</a:t>
            </a:r>
            <a:r>
              <a:rPr lang="es-CL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: Supabase (</a:t>
            </a:r>
            <a:r>
              <a:rPr lang="es-CL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PostgreSQL + Auth) 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23" name="Google Shape;223;p12" title="Vue.js_Logo_2.svg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85849" y="2324400"/>
            <a:ext cx="798198" cy="691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12" title="t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006900" y="2324400"/>
            <a:ext cx="691400" cy="691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12" title="supabase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770550" y="4672525"/>
            <a:ext cx="923275" cy="923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12" title="Node.js_logo.svg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113054" y="3234025"/>
            <a:ext cx="1893852" cy="1159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12" title="icons8-express-js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404652" y="3141988"/>
            <a:ext cx="1133750" cy="1133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32" name="Google Shape;23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13"/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Resultados obtenidos</a:t>
            </a:r>
            <a:endParaRPr/>
          </a:p>
        </p:txBody>
      </p:sp>
      <p:sp>
        <p:nvSpPr>
          <p:cNvPr id="234" name="Google Shape;234;p13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“DATA SCHOOL”</a:t>
            </a:r>
            <a:endParaRPr/>
          </a:p>
        </p:txBody>
      </p:sp>
      <p:sp>
        <p:nvSpPr>
          <p:cNvPr id="235" name="Google Shape;235;p13"/>
          <p:cNvSpPr txBox="1"/>
          <p:nvPr/>
        </p:nvSpPr>
        <p:spPr>
          <a:xfrm>
            <a:off x="527075" y="2579850"/>
            <a:ext cx="11111400" cy="28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●"/>
            </a:pPr>
            <a:r>
              <a:rPr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 cumplio con la Gran parte de los requerimientos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●"/>
            </a:pPr>
            <a:r>
              <a:rPr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Gestión completa de cursos y asignaturas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●"/>
            </a:pPr>
            <a:r>
              <a:rPr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Falto modulos analiticos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●"/>
            </a:pPr>
            <a:r>
              <a:rPr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Módulo de calificaciones con cálculo automático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●"/>
            </a:pPr>
            <a:r>
              <a:rPr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Base de datos con alrededor de 25 tablas operativas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●"/>
            </a:pPr>
            <a:r>
              <a:rPr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Interfaz responsiva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40" name="Google Shape;240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14"/>
          <p:cNvSpPr txBox="1"/>
          <p:nvPr/>
        </p:nvSpPr>
        <p:spPr>
          <a:xfrm>
            <a:off x="1" y="1067948"/>
            <a:ext cx="12192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Obstáculos presentados durante el desarrollo</a:t>
            </a:r>
            <a:endParaRPr/>
          </a:p>
        </p:txBody>
      </p:sp>
      <p:sp>
        <p:nvSpPr>
          <p:cNvPr id="242" name="Google Shape;242;p14"/>
          <p:cNvSpPr txBox="1"/>
          <p:nvPr/>
        </p:nvSpPr>
        <p:spPr>
          <a:xfrm>
            <a:off x="678900" y="2167175"/>
            <a:ext cx="10834200" cy="405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●"/>
            </a:pPr>
            <a:r>
              <a:rPr lang="es-CL" sz="2800">
                <a:solidFill>
                  <a:schemeClr val="dk1"/>
                </a:solidFill>
              </a:rPr>
              <a:t>Cambio de </a:t>
            </a:r>
            <a:r>
              <a:rPr lang="es-CL" sz="2800">
                <a:solidFill>
                  <a:schemeClr val="dk1"/>
                </a:solidFill>
              </a:rPr>
              <a:t>metodología</a:t>
            </a:r>
            <a:r>
              <a:rPr lang="es-CL" sz="2800">
                <a:solidFill>
                  <a:schemeClr val="dk1"/>
                </a:solidFill>
              </a:rPr>
              <a:t> a KanBan.</a:t>
            </a:r>
            <a:endParaRPr sz="2800">
              <a:solidFill>
                <a:schemeClr val="dk1"/>
              </a:solidFill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●"/>
            </a:pPr>
            <a:r>
              <a:rPr lang="es-CL" sz="2800">
                <a:solidFill>
                  <a:schemeClr val="dk1"/>
                </a:solidFill>
              </a:rPr>
              <a:t>Falta de tiempo.</a:t>
            </a:r>
            <a:endParaRPr sz="2800">
              <a:solidFill>
                <a:schemeClr val="dk1"/>
              </a:solidFill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●"/>
            </a:pPr>
            <a:r>
              <a:rPr lang="es-CL" sz="2800">
                <a:solidFill>
                  <a:schemeClr val="dk1"/>
                </a:solidFill>
              </a:rPr>
              <a:t>Complejidad de la base de datos.</a:t>
            </a:r>
            <a:endParaRPr sz="2800">
              <a:solidFill>
                <a:schemeClr val="dk1"/>
              </a:solidFill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●"/>
            </a:pPr>
            <a:r>
              <a:rPr lang="es-CL" sz="2800">
                <a:solidFill>
                  <a:schemeClr val="dk1"/>
                </a:solidFill>
              </a:rPr>
              <a:t>Falta de conocimientos de </a:t>
            </a:r>
            <a:r>
              <a:rPr lang="es-CL" sz="2800">
                <a:solidFill>
                  <a:schemeClr val="dk1"/>
                </a:solidFill>
              </a:rPr>
              <a:t>tecnologías</a:t>
            </a:r>
            <a:r>
              <a:rPr lang="es-CL" sz="2800">
                <a:solidFill>
                  <a:schemeClr val="dk1"/>
                </a:solidFill>
              </a:rPr>
              <a:t> utilizadas. (Curva de aprendizaje)</a:t>
            </a:r>
            <a:endParaRPr sz="2800">
              <a:solidFill>
                <a:schemeClr val="dk1"/>
              </a:solidFill>
            </a:endParaRPr>
          </a:p>
        </p:txBody>
      </p:sp>
      <p:sp>
        <p:nvSpPr>
          <p:cNvPr id="243" name="Google Shape;243;p14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“DATA SCHOOL”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48" name="Google Shape;24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16"/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PREGUNTAS DE LA COMISIÓN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2023-10-28T21:12:11Z</dcterms:created>
  <dc:creator>Gerardo Galan Cruz</dc:creator>
</cp:coreProperties>
</file>