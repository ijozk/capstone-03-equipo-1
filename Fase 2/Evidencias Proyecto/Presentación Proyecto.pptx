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6858000" cx="12192000"/>
  <p:notesSz cx="6858000" cy="9144000"/>
  <p:embeddedFontLs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6" roundtripDataSignature="AMtx7mgJkxJve+n47E9DFPEuWFBqBFH3/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OpenSans-regular.fntdata"/><Relationship Id="rId21" Type="http://schemas.openxmlformats.org/officeDocument/2006/relationships/slide" Target="slides/slide17.xml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customschemas.google.com/relationships/presentationmetadata" Target="metadata"/><Relationship Id="rId25" Type="http://schemas.openxmlformats.org/officeDocument/2006/relationships/font" Target="fonts/OpenSans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a5502607a1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a5502607a1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a5502607a1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a5502607a1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2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8.png"/><Relationship Id="rId5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hyperlink" Target="http://node.js" TargetMode="External"/><Relationship Id="rId9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1.png"/><Relationship Id="rId7" Type="http://schemas.openxmlformats.org/officeDocument/2006/relationships/image" Target="../media/image7.png"/><Relationship Id="rId8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553" cy="4350553"/>
            <a:chOff x="0" y="0"/>
            <a:chExt cx="7633553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Jorge Riffo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Jefe de Proyecto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</a:t>
              </a: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Full Stack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Manuel Figueroa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 End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Kevin Carvajal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 End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seguimiento e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identificación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 factores que disminuyen o afectan el rendimiento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académico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del estudiante.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Mejorar la toma de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decisiones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del negocios utilizando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información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 los estudiantes y de otros agentes que interfieren en su rendimiento, en un sistema web.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362574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e implementar una plataforma web que permita digitalizar la gestión académica y administrativa en establecimientos de enseñanza básica y media, optimizando la toma de decisiones del negocio respaldada por la información.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25" y="4272250"/>
            <a:ext cx="10962900" cy="23607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sistema de autenticación con RBAC para los distintos roles, logrando 100% de funcionalidades accesibles según permisos en 8 semanas.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módulo de gestión académica que permita el registro completo de cursos, asignaturas, evaluaciones y notas con cálculo automático de promedios, alcanzando 100% de operaciones CRUD funcionales en 8 semanas.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" name="Google Shape;134;p5"/>
          <p:cNvSpPr/>
          <p:nvPr/>
        </p:nvSpPr>
        <p:spPr>
          <a:xfrm>
            <a:off x="714898" y="2169775"/>
            <a:ext cx="5129100" cy="4293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</a:t>
            </a:r>
            <a:endParaRPr sz="2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Roles de usuarios: Profesor, Estudiante/Tutor, Administrador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completa de datos académicos (cursos, asignaturas, calificaciones, asistencia)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Sistema de encuestas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6475800" y="2177325"/>
            <a:ext cx="4785000" cy="43632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Apartado de inteligencia de negocios pendiente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Vista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0" name="Google Shape;14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3" name="Google Shape;143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4" name="Google Shape;144;p6"/>
          <p:cNvSpPr txBox="1"/>
          <p:nvPr/>
        </p:nvSpPr>
        <p:spPr>
          <a:xfrm>
            <a:off x="1084650" y="2251300"/>
            <a:ext cx="9857400" cy="42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Kanban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metodología Kanban no requiere roles específicos, por lo que se adapta mejor a nuestro equipo.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mantener un flujo de trabajo continuo, donde las tareas pueden priorizarse de forma colaborativa según la carga y urgencia.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Facilita visualizar el progreso del proyecto mediante un tablero, sin necesidad de ciclos fijos de sprint.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equipo puede ajustar el flujo y mejorar los procesos mediante revisiones periódicas.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9" name="Google Shape;14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51" name="Google Shape;151;p7"/>
          <p:cNvSpPr txBox="1"/>
          <p:nvPr/>
        </p:nvSpPr>
        <p:spPr>
          <a:xfrm>
            <a:off x="1" y="906431"/>
            <a:ext cx="12192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Planificación Temporal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Se realiza una planificación temporal </a:t>
            </a: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inicial para luego monitorear los avances por</a:t>
            </a: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 Trello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3" name="Google Shape;153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951631"/>
            <a:ext cx="7925376" cy="4753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22751" y="3043394"/>
            <a:ext cx="3809425" cy="2570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61" name="Google Shape;161;p8"/>
          <p:cNvSpPr txBox="1"/>
          <p:nvPr/>
        </p:nvSpPr>
        <p:spPr>
          <a:xfrm>
            <a:off x="0" y="143265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</p:txBody>
      </p:sp>
      <p:cxnSp>
        <p:nvCxnSpPr>
          <p:cNvPr id="162" name="Google Shape;162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3" name="Google Shape;163;p8" title="Diagramas_dataSchool-Arquitectura del sistema.drawio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68600" y="2190655"/>
            <a:ext cx="5389873" cy="4474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8" name="Google Shape;16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70" name="Google Shape;170;p9"/>
          <p:cNvSpPr txBox="1"/>
          <p:nvPr/>
        </p:nvSpPr>
        <p:spPr>
          <a:xfrm>
            <a:off x="0" y="143265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 la solución</a:t>
            </a:r>
            <a:endParaRPr/>
          </a:p>
        </p:txBody>
      </p:sp>
      <p:cxnSp>
        <p:nvCxnSpPr>
          <p:cNvPr id="171" name="Google Shape;171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2" name="Google Shape;172;p9" title="Diagramas_dataSchool-Página-3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5263" y="2254955"/>
            <a:ext cx="6661468" cy="4474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7" name="Google Shape;17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79" name="Google Shape;179;p10"/>
          <p:cNvSpPr txBox="1"/>
          <p:nvPr/>
        </p:nvSpPr>
        <p:spPr>
          <a:xfrm>
            <a:off x="0" y="8545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80" name="Google Shape;180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1" name="Google Shape;181;p10" title="DataModelDAtaScho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2325" y="1617300"/>
            <a:ext cx="9450675" cy="5170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6" name="Google Shape;18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1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88" name="Google Shape;188;p11"/>
          <p:cNvSpPr txBox="1"/>
          <p:nvPr/>
        </p:nvSpPr>
        <p:spPr>
          <a:xfrm>
            <a:off x="0" y="992901"/>
            <a:ext cx="12192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Elementos Analíticos a Incorporar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9" name="Google Shape;189;p11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0" name="Google Shape;190;p11"/>
          <p:cNvSpPr txBox="1"/>
          <p:nvPr/>
        </p:nvSpPr>
        <p:spPr>
          <a:xfrm>
            <a:off x="557875" y="1854800"/>
            <a:ext cx="11188500" cy="50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arenR"/>
            </a:pPr>
            <a:r>
              <a:rPr b="1" lang="es-CL" sz="1700">
                <a:solidFill>
                  <a:schemeClr val="dk1"/>
                </a:solidFill>
              </a:rPr>
              <a:t>Rendimiento Académico Relacionado con Datos Socioeconómicos</a:t>
            </a:r>
            <a:endParaRPr b="1"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solidFill>
                  <a:schemeClr val="dk1"/>
                </a:solidFill>
              </a:rPr>
              <a:t>¿Qué?</a:t>
            </a:r>
            <a:r>
              <a:rPr lang="es-CL" sz="1700">
                <a:solidFill>
                  <a:schemeClr val="dk1"/>
                </a:solidFill>
              </a:rPr>
              <a:t>correlación entre las condiciones socioeconómicas familiares de los estudiantes y su rendimiento académico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solidFill>
                  <a:schemeClr val="dk1"/>
                </a:solidFill>
              </a:rPr>
              <a:t>¿Por </a:t>
            </a:r>
            <a:r>
              <a:rPr b="1" lang="es-CL" sz="1700">
                <a:solidFill>
                  <a:schemeClr val="dk1"/>
                </a:solidFill>
              </a:rPr>
              <a:t>qué</a:t>
            </a:r>
            <a:r>
              <a:rPr b="1" lang="es-CL" sz="1700">
                <a:solidFill>
                  <a:schemeClr val="dk1"/>
                </a:solidFill>
              </a:rPr>
              <a:t>?: 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Identificar estudiantes vulnerables que necesitan apoyo (becas, útiles, apoyo psicosocial)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Focalizar recursos en quienes más lo necesitan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Diseñar intervenciones específicas por grupo (talleres, préstamo de equipos)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solidFill>
                  <a:schemeClr val="dk1"/>
                </a:solidFill>
              </a:rPr>
              <a:t>¿Como? 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Encuesta socioeconómica obligatoria (ingresos, educación padres, acceso tecnológico)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Dashboards: Promedio por quintil, dispersión ingreso vs notas, mapa de calor variables críticas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solidFill>
                  <a:schemeClr val="dk1"/>
                </a:solidFill>
              </a:rPr>
              <a:t>Periodicidad</a:t>
            </a:r>
            <a:r>
              <a:rPr lang="es-CL" sz="1700">
                <a:solidFill>
                  <a:schemeClr val="dk1"/>
                </a:solidFill>
              </a:rPr>
              <a:t>: encuesta Anual y análisis semestral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0"/>
              </a:spcBef>
              <a:spcAft>
                <a:spcPts val="60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a5502607a1_0_10"/>
          <p:cNvSpPr txBox="1"/>
          <p:nvPr>
            <p:ph idx="1" type="subTitle"/>
          </p:nvPr>
        </p:nvSpPr>
        <p:spPr>
          <a:xfrm>
            <a:off x="712000" y="1285325"/>
            <a:ext cx="10726200" cy="5378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2)  Rendimiento Relacionado con Horario de Clases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¿Qué?</a:t>
            </a:r>
            <a:r>
              <a:rPr lang="es-CL" sz="1700">
                <a:latin typeface="Arial"/>
                <a:ea typeface="Arial"/>
                <a:cs typeface="Arial"/>
                <a:sym typeface="Arial"/>
              </a:rPr>
              <a:t>Impacto del horario de clases (hora del día, día de la semana) en rendimiento y asistencia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¿Por qué?: 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Optimizar distribución de asignaturas críticas en mejores bloques horarios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Evitar evaluaciones en horarios de bajo rendimiento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Mejorar asistencia con horarios óptimos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Fundamentar cambios en malla horaria con datos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¿Como? 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Segmentación por bloques y días de semana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Calcular por segmento: Promedio de notas, % asistencia, observaciones conductuales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Visualización: Mapa de calor rendimiento por hora/día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Periodicidad</a:t>
            </a:r>
            <a:r>
              <a:rPr lang="es-CL" sz="1700">
                <a:latin typeface="Arial"/>
                <a:ea typeface="Arial"/>
                <a:cs typeface="Arial"/>
                <a:sym typeface="Arial"/>
              </a:rPr>
              <a:t>: Recolección y análisis: Semestral</a:t>
            </a:r>
            <a:endParaRPr/>
          </a:p>
        </p:txBody>
      </p:sp>
      <p:sp>
        <p:nvSpPr>
          <p:cNvPr id="196" name="Google Shape;196;g3a5502607a1_0_1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  <p:pic>
        <p:nvPicPr>
          <p:cNvPr descr="EscuelaIT Duoc UC - Escuela de Informática y Telecomunicaciones Duoc UC - Duoc  UC | LinkedIn" id="197" name="Google Shape;197;g3a5502607a1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a5502607a1_0_15"/>
          <p:cNvSpPr txBox="1"/>
          <p:nvPr>
            <p:ph idx="1" type="subTitle"/>
          </p:nvPr>
        </p:nvSpPr>
        <p:spPr>
          <a:xfrm>
            <a:off x="850700" y="1192825"/>
            <a:ext cx="10633800" cy="5332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)Análisis de Asistencia vs Rendimiento 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¿Qué?</a:t>
            </a:r>
            <a:r>
              <a:rPr lang="es-CL" sz="1700">
                <a:latin typeface="Arial"/>
                <a:ea typeface="Arial"/>
                <a:cs typeface="Arial"/>
                <a:sym typeface="Arial"/>
              </a:rPr>
              <a:t>Correlación entre el porcentaje de asistencia a clases y el rendimiento académico de los estudiantes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¿Por qué?: 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Identificar el umbral crítico de ausentismo que afecta significativamente las notas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Detectar estudiantes en riesgo por inasistencias frecuentes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Justificar políticas de control de asistencia con evidencia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Priorizar intervenciones de re-vinculación escolar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¿Como? 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Calcular % de asistencia mensual y semestral por estudiante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Cruzar con promedio de notas por asignatura y general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Visualizaciones: Gráfico de dispersión (asistencia vs notas)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Identificar asignaturas más sensibles al ausentismo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Periodicidad</a:t>
            </a:r>
            <a:r>
              <a:rPr lang="es-CL" sz="1700">
                <a:latin typeface="Arial"/>
                <a:ea typeface="Arial"/>
                <a:cs typeface="Arial"/>
                <a:sym typeface="Arial"/>
              </a:rPr>
              <a:t>: Mensual y Semestral</a:t>
            </a:r>
            <a:endParaRPr/>
          </a:p>
        </p:txBody>
      </p:sp>
      <p:sp>
        <p:nvSpPr>
          <p:cNvPr id="203" name="Google Shape;203;g3a5502607a1_0_15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  <p:pic>
        <p:nvPicPr>
          <p:cNvPr descr="EscuelaIT Duoc UC - Escuela de Informática y Telecomunicaciones Duoc UC - Duoc  UC | LinkedIn" id="204" name="Google Shape;204;g3a5502607a1_0_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9" name="Google Shape;2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211" name="Google Shape;211;p12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212" name="Google Shape;212;p1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3" name="Google Shape;213;p12"/>
          <p:cNvSpPr txBox="1"/>
          <p:nvPr/>
        </p:nvSpPr>
        <p:spPr>
          <a:xfrm>
            <a:off x="324575" y="2387500"/>
            <a:ext cx="11450700" cy="15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Vue.js, TailwindCSS, TypeScript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23"/>
              <a:buFont typeface="Arial"/>
              <a:buNone/>
            </a:pPr>
            <a:r>
              <a:rPr b="1"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CL" sz="18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Node.js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+Express , 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TypeScript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23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23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23"/>
              <a:buFont typeface="Arial"/>
              <a:buNone/>
            </a:pPr>
            <a:r>
              <a:rPr b="1"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Base de Datos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Supabase (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PostgreSQL + Auth) </a:t>
            </a: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14" name="Google Shape;214;p12" title="Vue.js_Logo_2.sv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96899" y="2387500"/>
            <a:ext cx="798198" cy="691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2" title="t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96000" y="2387500"/>
            <a:ext cx="691400" cy="69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2" title="supabase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70550" y="5286100"/>
            <a:ext cx="923275" cy="92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2" title="Node.js_logo.svg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03004" y="3333375"/>
            <a:ext cx="1893852" cy="1159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2" title="icons8-express-j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609177" y="3387413"/>
            <a:ext cx="1133750" cy="113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3" name="Google Shape;22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3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  <p:sp>
        <p:nvSpPr>
          <p:cNvPr id="225" name="Google Shape;225;p13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  <p:sp>
        <p:nvSpPr>
          <p:cNvPr id="226" name="Google Shape;226;p13"/>
          <p:cNvSpPr txBox="1"/>
          <p:nvPr/>
        </p:nvSpPr>
        <p:spPr>
          <a:xfrm>
            <a:off x="527075" y="2579850"/>
            <a:ext cx="11111400" cy="374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cumplio con la Gran parte de los requerimientos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Nos falto lo relacionado a los modulos analiticos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1" name="Google Shape;23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4"/>
          <p:cNvSpPr txBox="1"/>
          <p:nvPr/>
        </p:nvSpPr>
        <p:spPr>
          <a:xfrm>
            <a:off x="1" y="1067948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  <p:sp>
        <p:nvSpPr>
          <p:cNvPr id="233" name="Google Shape;233;p14"/>
          <p:cNvSpPr txBox="1"/>
          <p:nvPr/>
        </p:nvSpPr>
        <p:spPr>
          <a:xfrm>
            <a:off x="712000" y="2287025"/>
            <a:ext cx="10834200" cy="40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s-CL" sz="1800">
                <a:solidFill>
                  <a:schemeClr val="dk1"/>
                </a:solidFill>
              </a:rPr>
              <a:t>Cambio de </a:t>
            </a:r>
            <a:r>
              <a:rPr lang="es-CL" sz="1800">
                <a:solidFill>
                  <a:schemeClr val="dk1"/>
                </a:solidFill>
              </a:rPr>
              <a:t>metodología</a:t>
            </a:r>
            <a:r>
              <a:rPr lang="es-CL" sz="1800">
                <a:solidFill>
                  <a:schemeClr val="dk1"/>
                </a:solidFill>
              </a:rPr>
              <a:t> a KanBan.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s-CL" sz="1800">
                <a:solidFill>
                  <a:schemeClr val="dk1"/>
                </a:solidFill>
              </a:rPr>
              <a:t>Falta de tiempo.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34" name="Google Shape;234;p14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9" name="Google Shape;23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6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