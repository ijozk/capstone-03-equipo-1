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embeddedFontLst>
    <p:embeddedFont>
      <p:font typeface="Open Sans" panose="020B0606030504020204" pitchFamily="34"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idE6xYmY3m72Scj1ltFqo3896e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110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a5502607a1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g3a5502607a1_1_1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 name="Google Shape;193;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a5502607a1_0_1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a5502607a1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a5502607a1_0_1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a5502607a1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0" name="Google Shape;230;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8" name="Google Shape;238;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1"/>
        <p:cNvGrpSpPr/>
        <p:nvPr/>
      </p:nvGrpSpPr>
      <p:grpSpPr>
        <a:xfrm>
          <a:off x="0" y="0"/>
          <a:ext cx="0" cy="0"/>
          <a:chOff x="0" y="0"/>
          <a:chExt cx="0" cy="0"/>
        </a:xfrm>
      </p:grpSpPr>
      <p:sp>
        <p:nvSpPr>
          <p:cNvPr id="12" name="Google Shape;12;p2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7"/>
        <p:cNvGrpSpPr/>
        <p:nvPr/>
      </p:nvGrpSpPr>
      <p:grpSpPr>
        <a:xfrm>
          <a:off x="0" y="0"/>
          <a:ext cx="0" cy="0"/>
          <a:chOff x="0" y="0"/>
          <a:chExt cx="0" cy="0"/>
        </a:xfrm>
      </p:grpSpPr>
      <p:sp>
        <p:nvSpPr>
          <p:cNvPr id="18" name="Google Shape;18;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3"/>
        <p:cNvGrpSpPr/>
        <p:nvPr/>
      </p:nvGrpSpPr>
      <p:grpSpPr>
        <a:xfrm>
          <a:off x="0" y="0"/>
          <a:ext cx="0" cy="0"/>
          <a:chOff x="0" y="0"/>
          <a:chExt cx="0" cy="0"/>
        </a:xfrm>
      </p:grpSpPr>
      <p:sp>
        <p:nvSpPr>
          <p:cNvPr id="24" name="Google Shape;24;p2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29"/>
        <p:cNvGrpSpPr/>
        <p:nvPr/>
      </p:nvGrpSpPr>
      <p:grpSpPr>
        <a:xfrm>
          <a:off x="0" y="0"/>
          <a:ext cx="0" cy="0"/>
          <a:chOff x="0" y="0"/>
          <a:chExt cx="0" cy="0"/>
        </a:xfrm>
      </p:grpSpPr>
      <p:sp>
        <p:nvSpPr>
          <p:cNvPr id="30" name="Google Shape;30;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36"/>
        <p:cNvGrpSpPr/>
        <p:nvPr/>
      </p:nvGrpSpPr>
      <p:grpSpPr>
        <a:xfrm>
          <a:off x="0" y="0"/>
          <a:ext cx="0" cy="0"/>
          <a:chOff x="0" y="0"/>
          <a:chExt cx="0" cy="0"/>
        </a:xfrm>
      </p:grpSpPr>
      <p:sp>
        <p:nvSpPr>
          <p:cNvPr id="37" name="Google Shape;37;p2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5"/>
        <p:cNvGrpSpPr/>
        <p:nvPr/>
      </p:nvGrpSpPr>
      <p:grpSpPr>
        <a:xfrm>
          <a:off x="0" y="0"/>
          <a:ext cx="0" cy="0"/>
          <a:chOff x="0" y="0"/>
          <a:chExt cx="0" cy="0"/>
        </a:xfrm>
      </p:grpSpPr>
      <p:sp>
        <p:nvSpPr>
          <p:cNvPr id="46" name="Google Shape;46;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0"/>
        <p:cNvGrpSpPr/>
        <p:nvPr/>
      </p:nvGrpSpPr>
      <p:grpSpPr>
        <a:xfrm>
          <a:off x="0" y="0"/>
          <a:ext cx="0" cy="0"/>
          <a:chOff x="0" y="0"/>
          <a:chExt cx="0" cy="0"/>
        </a:xfrm>
      </p:grpSpPr>
      <p:sp>
        <p:nvSpPr>
          <p:cNvPr id="51" name="Google Shape;51;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4"/>
        <p:cNvGrpSpPr/>
        <p:nvPr/>
      </p:nvGrpSpPr>
      <p:grpSpPr>
        <a:xfrm>
          <a:off x="0" y="0"/>
          <a:ext cx="0" cy="0"/>
          <a:chOff x="0" y="0"/>
          <a:chExt cx="0" cy="0"/>
        </a:xfrm>
      </p:grpSpPr>
      <p:sp>
        <p:nvSpPr>
          <p:cNvPr id="55" name="Google Shape;55;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1"/>
        <p:cNvGrpSpPr/>
        <p:nvPr/>
      </p:nvGrpSpPr>
      <p:grpSpPr>
        <a:xfrm>
          <a:off x="0" y="0"/>
          <a:ext cx="0" cy="0"/>
          <a:chOff x="0" y="0"/>
          <a:chExt cx="0" cy="0"/>
        </a:xfrm>
      </p:grpSpPr>
      <p:sp>
        <p:nvSpPr>
          <p:cNvPr id="62" name="Google Shape;62;p2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8"/>
          <p:cNvSpPr>
            <a:spLocks noGrp="1"/>
          </p:cNvSpPr>
          <p:nvPr>
            <p:ph type="pic" idx="2"/>
          </p:nvPr>
        </p:nvSpPr>
        <p:spPr>
          <a:xfrm>
            <a:off x="5183188" y="987425"/>
            <a:ext cx="6172200" cy="4873625"/>
          </a:xfrm>
          <a:prstGeom prst="rect">
            <a:avLst/>
          </a:prstGeom>
          <a:noFill/>
          <a:ln>
            <a:noFill/>
          </a:ln>
        </p:spPr>
      </p:sp>
      <p:sp>
        <p:nvSpPr>
          <p:cNvPr id="64" name="Google Shape;64;p2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68"/>
        <p:cNvGrpSpPr/>
        <p:nvPr/>
      </p:nvGrpSpPr>
      <p:grpSpPr>
        <a:xfrm>
          <a:off x="0" y="0"/>
          <a:ext cx="0" cy="0"/>
          <a:chOff x="0" y="0"/>
          <a:chExt cx="0" cy="0"/>
        </a:xfrm>
      </p:grpSpPr>
      <p:sp>
        <p:nvSpPr>
          <p:cNvPr id="69" name="Google Shape;69;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4"/>
        <p:cNvGrpSpPr/>
        <p:nvPr/>
      </p:nvGrpSpPr>
      <p:grpSpPr>
        <a:xfrm>
          <a:off x="0" y="0"/>
          <a:ext cx="0" cy="0"/>
          <a:chOff x="0" y="0"/>
          <a:chExt cx="0" cy="0"/>
        </a:xfrm>
      </p:grpSpPr>
      <p:sp>
        <p:nvSpPr>
          <p:cNvPr id="75" name="Google Shape;75;p3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wip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jpg"/><Relationship Id="rId7"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hyperlink" Target="http://node.js" TargetMode="External"/><Relationship Id="rId9"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85" name="Google Shape;85;p1"/>
          <p:cNvSpPr txBox="1"/>
          <p:nvPr/>
        </p:nvSpPr>
        <p:spPr>
          <a:xfrm>
            <a:off x="1" y="2707792"/>
            <a:ext cx="12192000" cy="11391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4400" b="0" i="0" u="none" strike="noStrike" cap="none">
                <a:solidFill>
                  <a:schemeClr val="dk1"/>
                </a:solidFill>
                <a:latin typeface="Calibri"/>
                <a:ea typeface="Calibri"/>
                <a:cs typeface="Calibri"/>
                <a:sym typeface="Calibri"/>
              </a:rPr>
              <a:t>PROYECTO “</a:t>
            </a:r>
            <a:r>
              <a:rPr lang="es-CL" sz="4400">
                <a:solidFill>
                  <a:schemeClr val="dk1"/>
                </a:solidFill>
                <a:latin typeface="Calibri"/>
                <a:ea typeface="Calibri"/>
                <a:cs typeface="Calibri"/>
                <a:sym typeface="Calibri"/>
              </a:rPr>
              <a:t>DATA SCHOOL</a:t>
            </a:r>
            <a:r>
              <a:rPr lang="es-CL" sz="4400" b="0" i="0" u="none" strike="noStrike" cap="none">
                <a:solidFill>
                  <a:schemeClr val="dk1"/>
                </a:solidFill>
                <a:latin typeface="Calibri"/>
                <a:ea typeface="Calibri"/>
                <a:cs typeface="Calibri"/>
                <a:sym typeface="Calibri"/>
              </a:rPr>
              <a:t>”</a:t>
            </a:r>
            <a:endParaRPr/>
          </a:p>
          <a:p>
            <a:pPr marL="0" marR="0" lvl="0" indent="0" algn="ctr" rtl="0">
              <a:spcBef>
                <a:spcPts val="0"/>
              </a:spcBef>
              <a:spcAft>
                <a:spcPts val="0"/>
              </a:spcAft>
              <a:buNone/>
            </a:pPr>
            <a:r>
              <a:rPr lang="es-CL" sz="2400" b="0" i="0" u="none" strike="noStrike" cap="none">
                <a:solidFill>
                  <a:schemeClr val="dk1"/>
                </a:solidFill>
                <a:latin typeface="Calibri"/>
                <a:ea typeface="Calibri"/>
                <a:cs typeface="Calibri"/>
                <a:sym typeface="Calibri"/>
              </a:rPr>
              <a:t>PRESENTACIÓN FINAL CAPSTONE</a:t>
            </a:r>
            <a:endParaRPr sz="2400" b="0" i="0" u="none" strike="noStrike" cap="none">
              <a:solidFill>
                <a:schemeClr val="dk1"/>
              </a:solidFill>
              <a:latin typeface="Calibri"/>
              <a:ea typeface="Calibri"/>
              <a:cs typeface="Calibri"/>
              <a:sym typeface="Calibri"/>
            </a:endParaRP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pic>
        <p:nvPicPr>
          <p:cNvPr id="90" name="Google Shape;90;p2"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grpSp>
        <p:nvGrpSpPr>
          <p:cNvPr id="91" name="Google Shape;91;p2"/>
          <p:cNvGrpSpPr/>
          <p:nvPr/>
        </p:nvGrpSpPr>
        <p:grpSpPr>
          <a:xfrm>
            <a:off x="4121026" y="1710819"/>
            <a:ext cx="7633553" cy="4350553"/>
            <a:chOff x="0" y="0"/>
            <a:chExt cx="7633553" cy="4350553"/>
          </a:xfrm>
        </p:grpSpPr>
        <p:sp>
          <p:nvSpPr>
            <p:cNvPr id="92" name="Google Shape;92;p2"/>
            <p:cNvSpPr/>
            <p:nvPr/>
          </p:nvSpPr>
          <p:spPr>
            <a:xfrm>
              <a:off x="0" y="0"/>
              <a:ext cx="7633494" cy="1359548"/>
            </a:xfrm>
            <a:prstGeom prst="roundRect">
              <a:avLst>
                <a:gd name="adj" fmla="val 10000"/>
              </a:avLst>
            </a:prstGeom>
            <a:gradFill>
              <a:gsLst>
                <a:gs pos="0">
                  <a:srgbClr val="6EA5DA"/>
                </a:gs>
                <a:gs pos="50000">
                  <a:srgbClr val="529BDA"/>
                </a:gs>
                <a:gs pos="100000">
                  <a:srgbClr val="4188C8"/>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txBox="1"/>
            <p:nvPr/>
          </p:nvSpPr>
          <p:spPr>
            <a:xfrm>
              <a:off x="1662653" y="0"/>
              <a:ext cx="5970840" cy="1359548"/>
            </a:xfrm>
            <a:prstGeom prst="rect">
              <a:avLst/>
            </a:prstGeom>
            <a:noFill/>
            <a:ln>
              <a:noFill/>
            </a:ln>
          </p:spPr>
          <p:txBody>
            <a:bodyPr spcFirstLastPara="1" wrap="square" lIns="99050" tIns="99050" rIns="99050" bIns="99050" anchor="t" anchorCtr="0">
              <a:noAutofit/>
            </a:bodyPr>
            <a:lstStyle/>
            <a:p>
              <a:pPr marL="0" marR="0" lvl="0" indent="0" algn="l" rtl="0">
                <a:lnSpc>
                  <a:spcPct val="90000"/>
                </a:lnSpc>
                <a:spcBef>
                  <a:spcPts val="0"/>
                </a:spcBef>
                <a:spcAft>
                  <a:spcPts val="0"/>
                </a:spcAft>
                <a:buClr>
                  <a:schemeClr val="lt1"/>
                </a:buClr>
                <a:buSzPts val="2600"/>
                <a:buFont typeface="Calibri"/>
                <a:buNone/>
              </a:pPr>
              <a:r>
                <a:rPr lang="es-CL" sz="2600">
                  <a:solidFill>
                    <a:schemeClr val="lt1"/>
                  </a:solidFill>
                  <a:latin typeface="Calibri"/>
                  <a:ea typeface="Calibri"/>
                  <a:cs typeface="Calibri"/>
                  <a:sym typeface="Calibri"/>
                </a:rPr>
                <a:t>Jorge Riffo</a:t>
              </a:r>
              <a:endParaRPr sz="2600" b="0" i="0" u="none" strike="noStrike" cap="none">
                <a:solidFill>
                  <a:schemeClr val="lt1"/>
                </a:solidFill>
                <a:latin typeface="Calibri"/>
                <a:ea typeface="Calibri"/>
                <a:cs typeface="Calibri"/>
                <a:sym typeface="Calibri"/>
              </a:endParaRPr>
            </a:p>
            <a:p>
              <a:pPr marL="228600" marR="0" lvl="1" indent="-228600" algn="l" rtl="0">
                <a:lnSpc>
                  <a:spcPct val="90000"/>
                </a:lnSpc>
                <a:spcBef>
                  <a:spcPts val="910"/>
                </a:spcBef>
                <a:spcAft>
                  <a:spcPts val="0"/>
                </a:spcAft>
                <a:buClr>
                  <a:schemeClr val="lt1"/>
                </a:buClr>
                <a:buSzPts val="2000"/>
                <a:buFont typeface="Calibri"/>
                <a:buChar char="•"/>
              </a:pPr>
              <a:r>
                <a:rPr lang="es-CL" sz="2000">
                  <a:solidFill>
                    <a:schemeClr val="lt1"/>
                  </a:solidFill>
                  <a:latin typeface="Calibri"/>
                  <a:ea typeface="Calibri"/>
                  <a:cs typeface="Calibri"/>
                  <a:sym typeface="Calibri"/>
                </a:rPr>
                <a:t>Jefe de Proyecto</a:t>
              </a:r>
              <a:endParaRPr sz="2000" b="0" i="0" u="none" strike="noStrike" cap="none">
                <a:solidFill>
                  <a:schemeClr val="lt1"/>
                </a:solidFill>
                <a:latin typeface="Calibri"/>
                <a:ea typeface="Calibri"/>
                <a:cs typeface="Calibri"/>
                <a:sym typeface="Calibri"/>
              </a:endParaRPr>
            </a:p>
            <a:p>
              <a:pPr marL="228600" marR="0" lvl="1" indent="-228600" algn="l" rtl="0">
                <a:lnSpc>
                  <a:spcPct val="90000"/>
                </a:lnSpc>
                <a:spcBef>
                  <a:spcPts val="300"/>
                </a:spcBef>
                <a:spcAft>
                  <a:spcPts val="0"/>
                </a:spcAft>
                <a:buClr>
                  <a:schemeClr val="lt1"/>
                </a:buClr>
                <a:buSzPts val="2000"/>
                <a:buFont typeface="Calibri"/>
                <a:buChar char="•"/>
              </a:pPr>
              <a:r>
                <a:rPr lang="es-CL" sz="2000">
                  <a:solidFill>
                    <a:schemeClr val="lt1"/>
                  </a:solidFill>
                  <a:latin typeface="Calibri"/>
                  <a:ea typeface="Calibri"/>
                  <a:cs typeface="Calibri"/>
                  <a:sym typeface="Calibri"/>
                </a:rPr>
                <a:t>Desarrollador Full Stack</a:t>
              </a:r>
              <a:endParaRPr sz="2000" b="0" i="0" u="none" strike="noStrike" cap="none">
                <a:solidFill>
                  <a:schemeClr val="lt1"/>
                </a:solidFill>
                <a:latin typeface="Calibri"/>
                <a:ea typeface="Calibri"/>
                <a:cs typeface="Calibri"/>
                <a:sym typeface="Calibri"/>
              </a:endParaRPr>
            </a:p>
          </p:txBody>
        </p:sp>
        <p:sp>
          <p:nvSpPr>
            <p:cNvPr id="94" name="Google Shape;94;p2"/>
            <p:cNvSpPr/>
            <p:nvPr/>
          </p:nvSpPr>
          <p:spPr>
            <a:xfrm>
              <a:off x="135954" y="135954"/>
              <a:ext cx="1526698" cy="1087638"/>
            </a:xfrm>
            <a:prstGeom prst="roundRect">
              <a:avLst>
                <a:gd name="adj" fmla="val 10000"/>
              </a:avLst>
            </a:prstGeom>
            <a:solidFill>
              <a:srgbClr val="C3D4EB"/>
            </a:soli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0" y="1495502"/>
              <a:ext cx="7633494" cy="1359548"/>
            </a:xfrm>
            <a:prstGeom prst="roundRect">
              <a:avLst>
                <a:gd name="adj" fmla="val 10000"/>
              </a:avLst>
            </a:prstGeom>
            <a:gradFill>
              <a:gsLst>
                <a:gs pos="0">
                  <a:srgbClr val="6EA5DA"/>
                </a:gs>
                <a:gs pos="50000">
                  <a:srgbClr val="529BDA"/>
                </a:gs>
                <a:gs pos="100000">
                  <a:srgbClr val="4188C8"/>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txBox="1"/>
            <p:nvPr/>
          </p:nvSpPr>
          <p:spPr>
            <a:xfrm>
              <a:off x="1662653" y="1495502"/>
              <a:ext cx="5970900" cy="1359600"/>
            </a:xfrm>
            <a:prstGeom prst="rect">
              <a:avLst/>
            </a:prstGeom>
            <a:noFill/>
            <a:ln>
              <a:noFill/>
            </a:ln>
          </p:spPr>
          <p:txBody>
            <a:bodyPr spcFirstLastPara="1" wrap="square" lIns="99050" tIns="99050" rIns="99050" bIns="99050" anchor="t" anchorCtr="0">
              <a:noAutofit/>
            </a:bodyPr>
            <a:lstStyle/>
            <a:p>
              <a:pPr marL="228600" marR="0" lvl="1" indent="-228600" algn="l" rtl="0">
                <a:lnSpc>
                  <a:spcPct val="90000"/>
                </a:lnSpc>
                <a:spcBef>
                  <a:spcPts val="910"/>
                </a:spcBef>
                <a:spcAft>
                  <a:spcPts val="0"/>
                </a:spcAft>
                <a:buClr>
                  <a:schemeClr val="lt1"/>
                </a:buClr>
                <a:buSzPts val="2000"/>
                <a:buFont typeface="Calibri"/>
                <a:buChar char="•"/>
              </a:pPr>
              <a:r>
                <a:rPr lang="es-CL" sz="2600">
                  <a:solidFill>
                    <a:schemeClr val="lt1"/>
                  </a:solidFill>
                  <a:latin typeface="Calibri"/>
                  <a:ea typeface="Calibri"/>
                  <a:cs typeface="Calibri"/>
                  <a:sym typeface="Calibri"/>
                </a:rPr>
                <a:t>Manuel Figueroa</a:t>
              </a:r>
              <a:endParaRPr sz="2000" b="0" i="0" u="none" strike="noStrike" cap="none">
                <a:solidFill>
                  <a:schemeClr val="lt1"/>
                </a:solidFill>
                <a:latin typeface="Calibri"/>
                <a:ea typeface="Calibri"/>
                <a:cs typeface="Calibri"/>
                <a:sym typeface="Calibri"/>
              </a:endParaRPr>
            </a:p>
            <a:p>
              <a:pPr marL="228600" marR="0" lvl="1" indent="-228600" algn="l" rtl="0">
                <a:lnSpc>
                  <a:spcPct val="90000"/>
                </a:lnSpc>
                <a:spcBef>
                  <a:spcPts val="300"/>
                </a:spcBef>
                <a:spcAft>
                  <a:spcPts val="0"/>
                </a:spcAft>
                <a:buClr>
                  <a:schemeClr val="lt1"/>
                </a:buClr>
                <a:buSzPts val="2000"/>
                <a:buFont typeface="Calibri"/>
                <a:buChar char="•"/>
              </a:pPr>
              <a:r>
                <a:rPr lang="es-CL" sz="2000">
                  <a:solidFill>
                    <a:schemeClr val="lt1"/>
                  </a:solidFill>
                  <a:latin typeface="Calibri"/>
                  <a:ea typeface="Calibri"/>
                  <a:cs typeface="Calibri"/>
                  <a:sym typeface="Calibri"/>
                </a:rPr>
                <a:t>Desarrollador</a:t>
              </a:r>
              <a:endParaRPr sz="2000">
                <a:solidFill>
                  <a:schemeClr val="lt1"/>
                </a:solidFill>
                <a:latin typeface="Calibri"/>
                <a:ea typeface="Calibri"/>
                <a:cs typeface="Calibri"/>
                <a:sym typeface="Calibri"/>
              </a:endParaRPr>
            </a:p>
            <a:p>
              <a:pPr marL="228600" marR="0" lvl="1" indent="-228600" algn="l" rtl="0">
                <a:lnSpc>
                  <a:spcPct val="90000"/>
                </a:lnSpc>
                <a:spcBef>
                  <a:spcPts val="300"/>
                </a:spcBef>
                <a:spcAft>
                  <a:spcPts val="0"/>
                </a:spcAft>
                <a:buClr>
                  <a:schemeClr val="lt1"/>
                </a:buClr>
                <a:buSzPts val="2000"/>
                <a:buFont typeface="Calibri"/>
                <a:buChar char="•"/>
              </a:pPr>
              <a:r>
                <a:rPr lang="es-CL" sz="2000">
                  <a:solidFill>
                    <a:schemeClr val="lt1"/>
                  </a:solidFill>
                  <a:latin typeface="Calibri"/>
                  <a:ea typeface="Calibri"/>
                  <a:cs typeface="Calibri"/>
                  <a:sym typeface="Calibri"/>
                </a:rPr>
                <a:t>Desarrollador Front End</a:t>
              </a:r>
              <a:endParaRPr sz="2000">
                <a:solidFill>
                  <a:schemeClr val="lt1"/>
                </a:solidFill>
                <a:latin typeface="Calibri"/>
                <a:ea typeface="Calibri"/>
                <a:cs typeface="Calibri"/>
                <a:sym typeface="Calibri"/>
              </a:endParaRPr>
            </a:p>
          </p:txBody>
        </p:sp>
        <p:sp>
          <p:nvSpPr>
            <p:cNvPr id="97" name="Google Shape;97;p2"/>
            <p:cNvSpPr/>
            <p:nvPr/>
          </p:nvSpPr>
          <p:spPr>
            <a:xfrm>
              <a:off x="135954" y="1631457"/>
              <a:ext cx="1526698" cy="1087638"/>
            </a:xfrm>
            <a:prstGeom prst="roundRect">
              <a:avLst>
                <a:gd name="adj" fmla="val 10000"/>
              </a:avLst>
            </a:prstGeom>
            <a:solidFill>
              <a:srgbClr val="C3D4EB"/>
            </a:soli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0" y="2991005"/>
              <a:ext cx="7633494" cy="1359548"/>
            </a:xfrm>
            <a:prstGeom prst="roundRect">
              <a:avLst>
                <a:gd name="adj" fmla="val 10000"/>
              </a:avLst>
            </a:prstGeom>
            <a:gradFill>
              <a:gsLst>
                <a:gs pos="0">
                  <a:srgbClr val="6EA5DA"/>
                </a:gs>
                <a:gs pos="50000">
                  <a:srgbClr val="529BDA"/>
                </a:gs>
                <a:gs pos="100000">
                  <a:srgbClr val="4188C8"/>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txBox="1"/>
            <p:nvPr/>
          </p:nvSpPr>
          <p:spPr>
            <a:xfrm>
              <a:off x="1662653" y="2991005"/>
              <a:ext cx="5970840" cy="1359548"/>
            </a:xfrm>
            <a:prstGeom prst="rect">
              <a:avLst/>
            </a:prstGeom>
            <a:noFill/>
            <a:ln>
              <a:noFill/>
            </a:ln>
          </p:spPr>
          <p:txBody>
            <a:bodyPr spcFirstLastPara="1" wrap="square" lIns="99050" tIns="99050" rIns="99050" bIns="99050" anchor="t" anchorCtr="0">
              <a:noAutofit/>
            </a:bodyPr>
            <a:lstStyle/>
            <a:p>
              <a:pPr marL="0" marR="0" lvl="0" indent="0" algn="l" rtl="0">
                <a:lnSpc>
                  <a:spcPct val="90000"/>
                </a:lnSpc>
                <a:spcBef>
                  <a:spcPts val="0"/>
                </a:spcBef>
                <a:spcAft>
                  <a:spcPts val="0"/>
                </a:spcAft>
                <a:buClr>
                  <a:schemeClr val="lt1"/>
                </a:buClr>
                <a:buSzPts val="2600"/>
                <a:buFont typeface="Calibri"/>
                <a:buNone/>
              </a:pPr>
              <a:r>
                <a:rPr lang="es-CL" sz="2600">
                  <a:solidFill>
                    <a:schemeClr val="lt1"/>
                  </a:solidFill>
                  <a:latin typeface="Calibri"/>
                  <a:ea typeface="Calibri"/>
                  <a:cs typeface="Calibri"/>
                  <a:sym typeface="Calibri"/>
                </a:rPr>
                <a:t>Kevin Carvajal</a:t>
              </a:r>
              <a:endParaRPr sz="2600" b="0" i="0" u="none" strike="noStrike" cap="none">
                <a:solidFill>
                  <a:schemeClr val="lt1"/>
                </a:solidFill>
                <a:latin typeface="Calibri"/>
                <a:ea typeface="Calibri"/>
                <a:cs typeface="Calibri"/>
                <a:sym typeface="Calibri"/>
              </a:endParaRPr>
            </a:p>
            <a:p>
              <a:pPr marL="228600" marR="0" lvl="1" indent="-228600" algn="l" rtl="0">
                <a:lnSpc>
                  <a:spcPct val="90000"/>
                </a:lnSpc>
                <a:spcBef>
                  <a:spcPts val="910"/>
                </a:spcBef>
                <a:spcAft>
                  <a:spcPts val="0"/>
                </a:spcAft>
                <a:buClr>
                  <a:schemeClr val="lt1"/>
                </a:buClr>
                <a:buSzPts val="2000"/>
                <a:buFont typeface="Calibri"/>
                <a:buChar char="•"/>
              </a:pPr>
              <a:r>
                <a:rPr lang="es-CL" sz="2000">
                  <a:solidFill>
                    <a:schemeClr val="lt1"/>
                  </a:solidFill>
                  <a:latin typeface="Calibri"/>
                  <a:ea typeface="Calibri"/>
                  <a:cs typeface="Calibri"/>
                  <a:sym typeface="Calibri"/>
                </a:rPr>
                <a:t>Desarrollador</a:t>
              </a:r>
              <a:endParaRPr sz="2000" b="0" i="0" u="none" strike="noStrike" cap="none">
                <a:solidFill>
                  <a:schemeClr val="lt1"/>
                </a:solidFill>
                <a:latin typeface="Calibri"/>
                <a:ea typeface="Calibri"/>
                <a:cs typeface="Calibri"/>
                <a:sym typeface="Calibri"/>
              </a:endParaRPr>
            </a:p>
            <a:p>
              <a:pPr marL="228600" marR="0" lvl="1" indent="-228600" algn="l" rtl="0">
                <a:lnSpc>
                  <a:spcPct val="90000"/>
                </a:lnSpc>
                <a:spcBef>
                  <a:spcPts val="300"/>
                </a:spcBef>
                <a:spcAft>
                  <a:spcPts val="0"/>
                </a:spcAft>
                <a:buClr>
                  <a:schemeClr val="lt1"/>
                </a:buClr>
                <a:buSzPts val="2000"/>
                <a:buFont typeface="Calibri"/>
                <a:buChar char="•"/>
              </a:pPr>
              <a:r>
                <a:rPr lang="es-CL" sz="2000">
                  <a:solidFill>
                    <a:schemeClr val="lt1"/>
                  </a:solidFill>
                  <a:latin typeface="Calibri"/>
                  <a:ea typeface="Calibri"/>
                  <a:cs typeface="Calibri"/>
                  <a:sym typeface="Calibri"/>
                </a:rPr>
                <a:t>Desarrollador Front End</a:t>
              </a:r>
              <a:endParaRPr sz="2000" b="0" i="0" u="none" strike="noStrike" cap="none">
                <a:solidFill>
                  <a:schemeClr val="lt1"/>
                </a:solidFill>
                <a:latin typeface="Calibri"/>
                <a:ea typeface="Calibri"/>
                <a:cs typeface="Calibri"/>
                <a:sym typeface="Calibri"/>
              </a:endParaRPr>
            </a:p>
          </p:txBody>
        </p:sp>
        <p:sp>
          <p:nvSpPr>
            <p:cNvPr id="100" name="Google Shape;100;p2"/>
            <p:cNvSpPr/>
            <p:nvPr/>
          </p:nvSpPr>
          <p:spPr>
            <a:xfrm>
              <a:off x="135954" y="3126960"/>
              <a:ext cx="1526698" cy="1087638"/>
            </a:xfrm>
            <a:prstGeom prst="roundRect">
              <a:avLst>
                <a:gd name="adj" fmla="val 10000"/>
              </a:avLst>
            </a:prstGeom>
            <a:solidFill>
              <a:srgbClr val="C3D4EB"/>
            </a:soli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 name="Google Shape;101;p2"/>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b="0" i="0" u="none" strike="noStrike" cap="none">
                <a:solidFill>
                  <a:srgbClr val="757070"/>
                </a:solidFill>
                <a:latin typeface="Calibri"/>
                <a:ea typeface="Calibri"/>
                <a:cs typeface="Calibri"/>
                <a:sym typeface="Calibri"/>
              </a:rPr>
              <a:t>PROYECTO “</a:t>
            </a:r>
            <a:r>
              <a:rPr lang="es-CL" sz="1800">
                <a:solidFill>
                  <a:srgbClr val="757070"/>
                </a:solidFill>
                <a:latin typeface="Calibri"/>
                <a:ea typeface="Calibri"/>
                <a:cs typeface="Calibri"/>
                <a:sym typeface="Calibri"/>
              </a:rPr>
              <a:t>DATA SCHOOL</a:t>
            </a:r>
            <a:r>
              <a:rPr lang="es-CL" sz="1800" b="0" i="0" u="none" strike="noStrike" cap="none">
                <a:solidFill>
                  <a:srgbClr val="757070"/>
                </a:solidFill>
                <a:latin typeface="Calibri"/>
                <a:ea typeface="Calibri"/>
                <a:cs typeface="Calibri"/>
                <a:sym typeface="Calibri"/>
              </a:rPr>
              <a:t>”</a:t>
            </a:r>
            <a:endParaRPr/>
          </a:p>
        </p:txBody>
      </p:sp>
      <p:sp>
        <p:nvSpPr>
          <p:cNvPr id="102" name="Google Shape;102;p2"/>
          <p:cNvSpPr txBox="1"/>
          <p:nvPr/>
        </p:nvSpPr>
        <p:spPr>
          <a:xfrm>
            <a:off x="238327" y="3058616"/>
            <a:ext cx="3608961"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a:solidFill>
                  <a:schemeClr val="dk1"/>
                </a:solidFill>
                <a:latin typeface="Calibri"/>
                <a:ea typeface="Calibri"/>
                <a:cs typeface="Calibri"/>
                <a:sym typeface="Calibri"/>
              </a:rPr>
              <a:t>INTEGRANTES DEL PROYECTO</a:t>
            </a:r>
            <a:endParaRPr sz="1800">
              <a:solidFill>
                <a:schemeClr val="dk1"/>
              </a:solidFill>
              <a:latin typeface="Calibri"/>
              <a:ea typeface="Calibri"/>
              <a:cs typeface="Calibri"/>
              <a:sym typeface="Calibri"/>
            </a:endParaRPr>
          </a:p>
        </p:txBody>
      </p:sp>
      <p:cxnSp>
        <p:nvCxnSpPr>
          <p:cNvPr id="103" name="Google Shape;103;p2"/>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108" name="Google Shape;108;p3"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09" name="Google Shape;109;p3"/>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rgbClr val="757070"/>
                </a:solidFill>
                <a:latin typeface="Calibri"/>
                <a:ea typeface="Calibri"/>
                <a:cs typeface="Calibri"/>
                <a:sym typeface="Calibri"/>
              </a:rPr>
              <a:t>PROYECTO “DATA SCHOOL”</a:t>
            </a:r>
            <a:endParaRPr/>
          </a:p>
        </p:txBody>
      </p:sp>
      <p:sp>
        <p:nvSpPr>
          <p:cNvPr id="110" name="Google Shape;110;p3"/>
          <p:cNvSpPr txBox="1"/>
          <p:nvPr/>
        </p:nvSpPr>
        <p:spPr>
          <a:xfrm>
            <a:off x="0" y="1130849"/>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a:solidFill>
                  <a:schemeClr val="dk1"/>
                </a:solidFill>
                <a:latin typeface="Calibri"/>
                <a:ea typeface="Calibri"/>
                <a:cs typeface="Calibri"/>
                <a:sym typeface="Calibri"/>
              </a:rPr>
              <a:t>DESCRIPCIÓN DEL PROYECTO</a:t>
            </a:r>
            <a:endParaRPr sz="1800">
              <a:solidFill>
                <a:schemeClr val="dk1"/>
              </a:solidFill>
              <a:latin typeface="Calibri"/>
              <a:ea typeface="Calibri"/>
              <a:cs typeface="Calibri"/>
              <a:sym typeface="Calibri"/>
            </a:endParaRPr>
          </a:p>
        </p:txBody>
      </p:sp>
      <p:cxnSp>
        <p:nvCxnSpPr>
          <p:cNvPr id="111" name="Google Shape;111;p3"/>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sp>
        <p:nvSpPr>
          <p:cNvPr id="112" name="Google Shape;112;p3"/>
          <p:cNvSpPr/>
          <p:nvPr/>
        </p:nvSpPr>
        <p:spPr>
          <a:xfrm>
            <a:off x="714909" y="2169769"/>
            <a:ext cx="4348705" cy="4092601"/>
          </a:xfrm>
          <a:prstGeom prst="roundRect">
            <a:avLst>
              <a:gd name="adj" fmla="val 10901"/>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s-CL" sz="2800" u="sng">
                <a:solidFill>
                  <a:schemeClr val="dk1"/>
                </a:solidFill>
                <a:latin typeface="Calibri"/>
                <a:ea typeface="Calibri"/>
                <a:cs typeface="Calibri"/>
                <a:sym typeface="Calibri"/>
              </a:rPr>
              <a:t>Problema o dolor</a:t>
            </a:r>
            <a:endParaRPr/>
          </a:p>
          <a:p>
            <a:pPr marL="457200" lvl="0" indent="-342900" algn="just" rtl="0">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No seguimiento e identificación de factores que disminuyen o afectan el rendimiento académico del estudiante.</a:t>
            </a:r>
            <a:endParaRPr sz="1800">
              <a:solidFill>
                <a:schemeClr val="dk1"/>
              </a:solidFill>
              <a:latin typeface="Calibri"/>
              <a:ea typeface="Calibri"/>
              <a:cs typeface="Calibri"/>
              <a:sym typeface="Calibri"/>
            </a:endParaRPr>
          </a:p>
          <a:p>
            <a:pPr marL="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ctr" rtl="0">
              <a:spcBef>
                <a:spcPts val="0"/>
              </a:spcBef>
              <a:spcAft>
                <a:spcPts val="0"/>
              </a:spcAft>
              <a:buNone/>
            </a:pPr>
            <a:endParaRPr sz="1800" u="sng">
              <a:solidFill>
                <a:schemeClr val="dk1"/>
              </a:solidFill>
              <a:latin typeface="Calibri"/>
              <a:ea typeface="Calibri"/>
              <a:cs typeface="Calibri"/>
              <a:sym typeface="Calibri"/>
            </a:endParaRPr>
          </a:p>
        </p:txBody>
      </p:sp>
      <p:sp>
        <p:nvSpPr>
          <p:cNvPr id="113" name="Google Shape;113;p3"/>
          <p:cNvSpPr/>
          <p:nvPr/>
        </p:nvSpPr>
        <p:spPr>
          <a:xfrm>
            <a:off x="6912079" y="2177325"/>
            <a:ext cx="4348705" cy="4092601"/>
          </a:xfrm>
          <a:prstGeom prst="roundRect">
            <a:avLst>
              <a:gd name="adj" fmla="val 10901"/>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s-CL" sz="2800" u="sng">
                <a:solidFill>
                  <a:schemeClr val="dk1"/>
                </a:solidFill>
                <a:latin typeface="Calibri"/>
                <a:ea typeface="Calibri"/>
                <a:cs typeface="Calibri"/>
                <a:sym typeface="Calibri"/>
              </a:rPr>
              <a:t>Propuesta de solución</a:t>
            </a:r>
            <a:endParaRPr/>
          </a:p>
          <a:p>
            <a:pPr marL="0" marR="0" lvl="0" indent="0" algn="ctr" rtl="0">
              <a:spcBef>
                <a:spcPts val="0"/>
              </a:spcBef>
              <a:spcAft>
                <a:spcPts val="0"/>
              </a:spcAft>
              <a:buNone/>
            </a:pPr>
            <a:endParaRPr sz="1800" u="sng">
              <a:solidFill>
                <a:schemeClr val="dk1"/>
              </a:solidFill>
              <a:latin typeface="Calibri"/>
              <a:ea typeface="Calibri"/>
              <a:cs typeface="Calibri"/>
              <a:sym typeface="Calibri"/>
            </a:endParaRPr>
          </a:p>
          <a:p>
            <a:pPr marL="457200" marR="0" lvl="0" indent="-342900" algn="just" rtl="0">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Mejorar la toma de decisiones del negocios utilizando información de los estudiantes y de otros agentes que interfieren en su rendimiento, en un sistema web. </a:t>
            </a:r>
            <a:endParaRPr sz="1800">
              <a:solidFill>
                <a:schemeClr val="dk1"/>
              </a:solidFill>
              <a:latin typeface="Calibri"/>
              <a:ea typeface="Calibri"/>
              <a:cs typeface="Calibri"/>
              <a:sym typeface="Calibri"/>
            </a:endParaRPr>
          </a:p>
        </p:txBody>
      </p:sp>
      <p:sp>
        <p:nvSpPr>
          <p:cNvPr id="114" name="Google Shape;114;p3"/>
          <p:cNvSpPr/>
          <p:nvPr/>
        </p:nvSpPr>
        <p:spPr>
          <a:xfrm>
            <a:off x="5456903" y="3736258"/>
            <a:ext cx="1140542" cy="757084"/>
          </a:xfrm>
          <a:prstGeom prst="rightArrow">
            <a:avLst>
              <a:gd name="adj1" fmla="val 50000"/>
              <a:gd name="adj2" fmla="val 50000"/>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2"/>
                                        </p:tgtEl>
                                        <p:attrNameLst>
                                          <p:attrName>style.visibility</p:attrName>
                                        </p:attrNameLst>
                                      </p:cBhvr>
                                      <p:to>
                                        <p:strVal val="visible"/>
                                      </p:to>
                                    </p:set>
                                    <p:animEffect transition="in" filter="fade">
                                      <p:cBhvr>
                                        <p:cTn id="7" dur="500"/>
                                        <p:tgtEl>
                                          <p:spTgt spid="1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4"/>
                                        </p:tgtEl>
                                        <p:attrNameLst>
                                          <p:attrName>style.visibility</p:attrName>
                                        </p:attrNameLst>
                                      </p:cBhvr>
                                      <p:to>
                                        <p:strVal val="visible"/>
                                      </p:to>
                                    </p:set>
                                    <p:animEffect transition="in" filter="fade">
                                      <p:cBhvr>
                                        <p:cTn id="12" dur="500"/>
                                        <p:tgtEl>
                                          <p:spTgt spid="114"/>
                                        </p:tgtEl>
                                      </p:cBhvr>
                                    </p:animEffect>
                                  </p:childTnLst>
                                </p:cTn>
                              </p:par>
                              <p:par>
                                <p:cTn id="13" presetID="10" presetClass="entr" presetSubtype="0" fill="hold" nodeType="withEffect">
                                  <p:stCondLst>
                                    <p:cond delay="0"/>
                                  </p:stCondLst>
                                  <p:childTnLst>
                                    <p:set>
                                      <p:cBhvr>
                                        <p:cTn id="14" dur="1" fill="hold">
                                          <p:stCondLst>
                                            <p:cond delay="0"/>
                                          </p:stCondLst>
                                        </p:cTn>
                                        <p:tgtEl>
                                          <p:spTgt spid="113"/>
                                        </p:tgtEl>
                                        <p:attrNameLst>
                                          <p:attrName>style.visibility</p:attrName>
                                        </p:attrNameLst>
                                      </p:cBhvr>
                                      <p:to>
                                        <p:strVal val="visible"/>
                                      </p:to>
                                    </p:set>
                                    <p:animEffect transition="in" filter="fade">
                                      <p:cBhvr>
                                        <p:cTn id="15" dur="500"/>
                                        <p:tgtEl>
                                          <p:spTgt spid="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pic>
        <p:nvPicPr>
          <p:cNvPr id="119" name="Google Shape;119;p4"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20" name="Google Shape;120;p4"/>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rgbClr val="757070"/>
                </a:solidFill>
                <a:latin typeface="Calibri"/>
                <a:ea typeface="Calibri"/>
                <a:cs typeface="Calibri"/>
                <a:sym typeface="Calibri"/>
              </a:rPr>
              <a:t>PROYECTO “DATA SCHOOL”</a:t>
            </a:r>
            <a:endParaRPr/>
          </a:p>
        </p:txBody>
      </p:sp>
      <p:sp>
        <p:nvSpPr>
          <p:cNvPr id="121" name="Google Shape;121;p4"/>
          <p:cNvSpPr txBox="1"/>
          <p:nvPr/>
        </p:nvSpPr>
        <p:spPr>
          <a:xfrm>
            <a:off x="0" y="1384304"/>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a:solidFill>
                  <a:schemeClr val="dk1"/>
                </a:solidFill>
                <a:latin typeface="Calibri"/>
                <a:ea typeface="Calibri"/>
                <a:cs typeface="Calibri"/>
                <a:sym typeface="Calibri"/>
              </a:rPr>
              <a:t>Objetivo General</a:t>
            </a:r>
            <a:endParaRPr sz="1800">
              <a:solidFill>
                <a:schemeClr val="dk1"/>
              </a:solidFill>
              <a:latin typeface="Calibri"/>
              <a:ea typeface="Calibri"/>
              <a:cs typeface="Calibri"/>
              <a:sym typeface="Calibri"/>
            </a:endParaRPr>
          </a:p>
        </p:txBody>
      </p:sp>
      <p:cxnSp>
        <p:nvCxnSpPr>
          <p:cNvPr id="122" name="Google Shape;122;p4"/>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sp>
        <p:nvSpPr>
          <p:cNvPr id="123" name="Google Shape;123;p4"/>
          <p:cNvSpPr txBox="1"/>
          <p:nvPr/>
        </p:nvSpPr>
        <p:spPr>
          <a:xfrm>
            <a:off x="1" y="3625746"/>
            <a:ext cx="12192000" cy="64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a:solidFill>
                  <a:schemeClr val="dk1"/>
                </a:solidFill>
                <a:latin typeface="Calibri"/>
                <a:ea typeface="Calibri"/>
                <a:cs typeface="Calibri"/>
                <a:sym typeface="Calibri"/>
              </a:rPr>
              <a:t>Objetivos Específicos</a:t>
            </a:r>
            <a:endParaRPr sz="1800">
              <a:solidFill>
                <a:schemeClr val="dk1"/>
              </a:solidFill>
              <a:latin typeface="Calibri"/>
              <a:ea typeface="Calibri"/>
              <a:cs typeface="Calibri"/>
              <a:sym typeface="Calibri"/>
            </a:endParaRPr>
          </a:p>
        </p:txBody>
      </p:sp>
      <p:sp>
        <p:nvSpPr>
          <p:cNvPr id="124" name="Google Shape;124;p4"/>
          <p:cNvSpPr/>
          <p:nvPr/>
        </p:nvSpPr>
        <p:spPr>
          <a:xfrm>
            <a:off x="614515" y="2040571"/>
            <a:ext cx="10962967" cy="1575221"/>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just" rtl="0">
              <a:lnSpc>
                <a:spcPct val="107916"/>
              </a:lnSpc>
              <a:spcBef>
                <a:spcPts val="0"/>
              </a:spcBef>
              <a:spcAft>
                <a:spcPts val="800"/>
              </a:spcAft>
              <a:buClr>
                <a:schemeClr val="dk1"/>
              </a:buClr>
              <a:buSzPts val="1100"/>
              <a:buFont typeface="Arial"/>
              <a:buNone/>
            </a:pPr>
            <a:r>
              <a:rPr lang="es-CL" sz="1800" dirty="0">
                <a:solidFill>
                  <a:schemeClr val="dk1"/>
                </a:solidFill>
                <a:latin typeface="Calibri"/>
                <a:ea typeface="Calibri"/>
                <a:cs typeface="Calibri"/>
                <a:sym typeface="Calibri"/>
              </a:rPr>
              <a:t>Desarrollar e implementar una plataforma web que permita digitalizar la gestión académica y administrativa en establecimientos de enseñanza básica y media, optimizando la toma de decisiones del negocio respaldada por la información.</a:t>
            </a:r>
            <a:endParaRPr sz="1800" dirty="0">
              <a:solidFill>
                <a:schemeClr val="dk1"/>
              </a:solidFill>
              <a:latin typeface="Calibri"/>
              <a:ea typeface="Calibri"/>
              <a:cs typeface="Calibri"/>
              <a:sym typeface="Calibri"/>
            </a:endParaRPr>
          </a:p>
        </p:txBody>
      </p:sp>
      <p:sp>
        <p:nvSpPr>
          <p:cNvPr id="125" name="Google Shape;125;p4"/>
          <p:cNvSpPr/>
          <p:nvPr/>
        </p:nvSpPr>
        <p:spPr>
          <a:xfrm>
            <a:off x="614515" y="4272246"/>
            <a:ext cx="11137774" cy="2360700"/>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457200" lvl="0" indent="-342900" algn="ctr">
              <a:buClr>
                <a:schemeClr val="dk1"/>
              </a:buClr>
              <a:buSzPts val="1800"/>
              <a:buFont typeface="Calibri"/>
              <a:buChar char="●"/>
            </a:pPr>
            <a:r>
              <a:rPr lang="es-ES" sz="1800" dirty="0">
                <a:solidFill>
                  <a:schemeClr val="dk1"/>
                </a:solidFill>
                <a:latin typeface="Calibri"/>
                <a:ea typeface="Calibri"/>
                <a:cs typeface="Calibri"/>
              </a:rPr>
              <a:t>Incrementar la eficacia del acompañamiento pedagógico y socioemocional, identificando correlaciones entre factores familiares y rendimiento escolar en al menos el 70% de los estudiantes, en un periodo de un año</a:t>
            </a:r>
            <a:r>
              <a:rPr lang="es-ES" dirty="0"/>
              <a:t>.</a:t>
            </a:r>
          </a:p>
          <a:p>
            <a:pPr marL="114300" lvl="0" algn="ctr">
              <a:buClr>
                <a:schemeClr val="dk1"/>
              </a:buClr>
              <a:buSzPts val="1800"/>
            </a:pPr>
            <a:endParaRPr lang="es-ES" dirty="0"/>
          </a:p>
          <a:p>
            <a:pPr marL="457200" lvl="0" indent="-342900" algn="ctr">
              <a:buClr>
                <a:schemeClr val="dk1"/>
              </a:buClr>
              <a:buSzPts val="1800"/>
              <a:buFont typeface="Calibri"/>
              <a:buChar char="●"/>
            </a:pPr>
            <a:r>
              <a:rPr lang="es-ES" sz="1800" dirty="0">
                <a:solidFill>
                  <a:schemeClr val="dk1"/>
                </a:solidFill>
                <a:latin typeface="Calibri"/>
                <a:ea typeface="Calibri"/>
                <a:cs typeface="Calibri"/>
              </a:rPr>
              <a:t>Optimizar el desempeño académico de los estudiantes mediante la identificación y ajuste de asignaturas críticas (modificación de horarios, cambio de docente y mejora de hábitos de estudio), logrando un aumento mínimo de 0,20 puntos en el promedio final del curso en dichas asignaturas durante el segundo año, en comparación con el año anterior.</a:t>
            </a:r>
            <a:endParaRPr sz="1800" dirty="0">
              <a:solidFill>
                <a:schemeClr val="dk1"/>
              </a:solidFill>
              <a:latin typeface="Calibri"/>
              <a:ea typeface="Calibri"/>
              <a:cs typeface="Calibri"/>
              <a:sym typeface="Calibri"/>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3"/>
                                        </p:tgtEl>
                                        <p:attrNameLst>
                                          <p:attrName>style.visibility</p:attrName>
                                        </p:attrNameLst>
                                      </p:cBhvr>
                                      <p:to>
                                        <p:strVal val="visible"/>
                                      </p:to>
                                    </p:set>
                                    <p:animEffect transition="in" filter="fade">
                                      <p:cBhvr>
                                        <p:cTn id="7" dur="500"/>
                                        <p:tgtEl>
                                          <p:spTgt spid="123"/>
                                        </p:tgtEl>
                                      </p:cBhvr>
                                    </p:animEffect>
                                  </p:childTnLst>
                                </p:cTn>
                              </p:par>
                              <p:par>
                                <p:cTn id="8" presetID="10" presetClass="entr" presetSubtype="0" fill="hold" nodeType="withEffect">
                                  <p:stCondLst>
                                    <p:cond delay="0"/>
                                  </p:stCondLst>
                                  <p:childTnLst>
                                    <p:set>
                                      <p:cBhvr>
                                        <p:cTn id="9" dur="1" fill="hold">
                                          <p:stCondLst>
                                            <p:cond delay="0"/>
                                          </p:stCondLst>
                                        </p:cTn>
                                        <p:tgtEl>
                                          <p:spTgt spid="125"/>
                                        </p:tgtEl>
                                        <p:attrNameLst>
                                          <p:attrName>style.visibility</p:attrName>
                                        </p:attrNameLst>
                                      </p:cBhvr>
                                      <p:to>
                                        <p:strVal val="visible"/>
                                      </p:to>
                                    </p:set>
                                    <p:animEffect transition="in" filter="fade">
                                      <p:cBhvr>
                                        <p:cTn id="10" dur="5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130" name="Google Shape;130;p5"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31" name="Google Shape;131;p5"/>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rgbClr val="757070"/>
                </a:solidFill>
                <a:latin typeface="Calibri"/>
                <a:ea typeface="Calibri"/>
                <a:cs typeface="Calibri"/>
                <a:sym typeface="Calibri"/>
              </a:rPr>
              <a:t>PROYECTO “DATA SCHOOL”</a:t>
            </a:r>
            <a:endParaRPr/>
          </a:p>
        </p:txBody>
      </p:sp>
      <p:sp>
        <p:nvSpPr>
          <p:cNvPr id="132" name="Google Shape;132;p5"/>
          <p:cNvSpPr txBox="1"/>
          <p:nvPr/>
        </p:nvSpPr>
        <p:spPr>
          <a:xfrm>
            <a:off x="0" y="1432655"/>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a:solidFill>
                  <a:schemeClr val="dk1"/>
                </a:solidFill>
                <a:latin typeface="Calibri"/>
                <a:ea typeface="Calibri"/>
                <a:cs typeface="Calibri"/>
                <a:sym typeface="Calibri"/>
              </a:rPr>
              <a:t>Alcances y limitaciones del proyecto</a:t>
            </a:r>
            <a:endParaRPr/>
          </a:p>
        </p:txBody>
      </p:sp>
      <p:cxnSp>
        <p:nvCxnSpPr>
          <p:cNvPr id="133" name="Google Shape;133;p5"/>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sp>
        <p:nvSpPr>
          <p:cNvPr id="134" name="Google Shape;134;p5"/>
          <p:cNvSpPr/>
          <p:nvPr/>
        </p:nvSpPr>
        <p:spPr>
          <a:xfrm>
            <a:off x="714898" y="2169775"/>
            <a:ext cx="5129100" cy="4293600"/>
          </a:xfrm>
          <a:prstGeom prst="roundRect">
            <a:avLst>
              <a:gd name="adj" fmla="val 10901"/>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s-CL" sz="2800" u="sng">
                <a:solidFill>
                  <a:schemeClr val="dk1"/>
                </a:solidFill>
                <a:latin typeface="Calibri"/>
                <a:ea typeface="Calibri"/>
                <a:cs typeface="Calibri"/>
                <a:sym typeface="Calibri"/>
              </a:rPr>
              <a:t>Alcances</a:t>
            </a:r>
            <a:endParaRPr sz="2800" u="sng">
              <a:solidFill>
                <a:schemeClr val="dk1"/>
              </a:solidFill>
              <a:latin typeface="Calibri"/>
              <a:ea typeface="Calibri"/>
              <a:cs typeface="Calibri"/>
              <a:sym typeface="Calibri"/>
            </a:endParaRPr>
          </a:p>
          <a:p>
            <a:pPr marL="0" marR="0" lvl="0" indent="0" algn="l" rtl="0">
              <a:spcBef>
                <a:spcPts val="0"/>
              </a:spcBef>
              <a:spcAft>
                <a:spcPts val="0"/>
              </a:spcAft>
              <a:buNone/>
            </a:pPr>
            <a:endParaRPr sz="2800" u="sng">
              <a:solidFill>
                <a:schemeClr val="dk1"/>
              </a:solidFill>
              <a:latin typeface="Calibri"/>
              <a:ea typeface="Calibri"/>
              <a:cs typeface="Calibri"/>
              <a:sym typeface="Calibri"/>
            </a:endParaRPr>
          </a:p>
          <a:p>
            <a:pPr marL="457200" lvl="0" indent="-342900" algn="just" rtl="0">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3 Roles de usuarios: Profesor, Estudiante/Tutor, Administrador</a:t>
            </a:r>
            <a:endParaRPr sz="1800">
              <a:solidFill>
                <a:schemeClr val="dk1"/>
              </a:solidFill>
              <a:latin typeface="Calibri"/>
              <a:ea typeface="Calibri"/>
              <a:cs typeface="Calibri"/>
              <a:sym typeface="Calibri"/>
            </a:endParaRPr>
          </a:p>
          <a:p>
            <a:pPr marL="457200" lvl="0" indent="-342900" algn="just" rtl="0">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Gestión completa de datos académicos (cursos, asignaturas, calificaciones, asistencia)</a:t>
            </a:r>
            <a:endParaRPr sz="1800">
              <a:solidFill>
                <a:schemeClr val="dk1"/>
              </a:solidFill>
              <a:latin typeface="Calibri"/>
              <a:ea typeface="Calibri"/>
              <a:cs typeface="Calibri"/>
              <a:sym typeface="Calibri"/>
            </a:endParaRPr>
          </a:p>
          <a:p>
            <a:pPr marL="457200" lvl="0" indent="-342900" algn="just" rtl="0">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 Sistema de encuestas </a:t>
            </a:r>
            <a:endParaRPr sz="1800">
              <a:solidFill>
                <a:schemeClr val="dk1"/>
              </a:solidFill>
              <a:latin typeface="Calibri"/>
              <a:ea typeface="Calibri"/>
              <a:cs typeface="Calibri"/>
              <a:sym typeface="Calibri"/>
            </a:endParaRPr>
          </a:p>
          <a:p>
            <a:pPr marL="45720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chemeClr val="dk1"/>
              </a:solidFill>
              <a:latin typeface="Calibri"/>
              <a:ea typeface="Calibri"/>
              <a:cs typeface="Calibri"/>
              <a:sym typeface="Calibri"/>
            </a:endParaRPr>
          </a:p>
          <a:p>
            <a:pPr marL="0" marR="0" lvl="0" indent="0" algn="ctr" rtl="0">
              <a:spcBef>
                <a:spcPts val="0"/>
              </a:spcBef>
              <a:spcAft>
                <a:spcPts val="0"/>
              </a:spcAft>
              <a:buNone/>
            </a:pPr>
            <a:endParaRPr sz="1800" u="sng">
              <a:solidFill>
                <a:schemeClr val="dk1"/>
              </a:solidFill>
              <a:latin typeface="Calibri"/>
              <a:ea typeface="Calibri"/>
              <a:cs typeface="Calibri"/>
              <a:sym typeface="Calibri"/>
            </a:endParaRPr>
          </a:p>
        </p:txBody>
      </p:sp>
      <p:sp>
        <p:nvSpPr>
          <p:cNvPr id="135" name="Google Shape;135;p5"/>
          <p:cNvSpPr/>
          <p:nvPr/>
        </p:nvSpPr>
        <p:spPr>
          <a:xfrm>
            <a:off x="6475800" y="2177325"/>
            <a:ext cx="4785000" cy="4363200"/>
          </a:xfrm>
          <a:prstGeom prst="roundRect">
            <a:avLst>
              <a:gd name="adj" fmla="val 10901"/>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s-CL" sz="2800" u="sng">
                <a:solidFill>
                  <a:schemeClr val="dk1"/>
                </a:solidFill>
                <a:latin typeface="Calibri"/>
                <a:ea typeface="Calibri"/>
                <a:cs typeface="Calibri"/>
                <a:sym typeface="Calibri"/>
              </a:rPr>
              <a:t>Limitaciones</a:t>
            </a:r>
            <a:endParaRPr/>
          </a:p>
          <a:p>
            <a:pPr marL="0" marR="0" lvl="0" indent="0" algn="ctr" rtl="0">
              <a:spcBef>
                <a:spcPts val="0"/>
              </a:spcBef>
              <a:spcAft>
                <a:spcPts val="0"/>
              </a:spcAft>
              <a:buNone/>
            </a:pPr>
            <a:endParaRPr sz="2800" u="sng">
              <a:solidFill>
                <a:schemeClr val="dk1"/>
              </a:solidFill>
              <a:latin typeface="Calibri"/>
              <a:ea typeface="Calibri"/>
              <a:cs typeface="Calibri"/>
              <a:sym typeface="Calibri"/>
            </a:endParaRPr>
          </a:p>
          <a:p>
            <a:pPr marL="457200" marR="0" lvl="0" indent="-342900" algn="just" rtl="0">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Apartado de inteligencia de negocios pendiente</a:t>
            </a:r>
            <a:endParaRPr sz="1800">
              <a:solidFill>
                <a:schemeClr val="dk1"/>
              </a:solidFill>
              <a:latin typeface="Calibri"/>
              <a:ea typeface="Calibri"/>
              <a:cs typeface="Calibri"/>
              <a:sym typeface="Calibri"/>
            </a:endParaRPr>
          </a:p>
          <a:p>
            <a:pPr marL="457200" marR="0" lvl="0" indent="-342900" algn="just" rtl="0">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Vista de análisis por asiento, rendimiento y comportamiento</a:t>
            </a:r>
            <a:endParaRPr sz="1800">
              <a:solidFill>
                <a:schemeClr val="dk1"/>
              </a:solidFill>
              <a:latin typeface="Calibri"/>
              <a:ea typeface="Calibri"/>
              <a:cs typeface="Calibri"/>
              <a:sym typeface="Calibri"/>
            </a:endParaRPr>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140" name="Google Shape;140;p6"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41" name="Google Shape;141;p6"/>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rgbClr val="757070"/>
                </a:solidFill>
                <a:latin typeface="Calibri"/>
                <a:ea typeface="Calibri"/>
                <a:cs typeface="Calibri"/>
                <a:sym typeface="Calibri"/>
              </a:rPr>
              <a:t>PROYECTO “DATA SCHOOL”</a:t>
            </a:r>
            <a:endParaRPr/>
          </a:p>
        </p:txBody>
      </p:sp>
      <p:sp>
        <p:nvSpPr>
          <p:cNvPr id="142" name="Google Shape;142;p6"/>
          <p:cNvSpPr txBox="1"/>
          <p:nvPr/>
        </p:nvSpPr>
        <p:spPr>
          <a:xfrm>
            <a:off x="0" y="1432655"/>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a:solidFill>
                  <a:schemeClr val="dk1"/>
                </a:solidFill>
                <a:latin typeface="Calibri"/>
                <a:ea typeface="Calibri"/>
                <a:cs typeface="Calibri"/>
                <a:sym typeface="Calibri"/>
              </a:rPr>
              <a:t>Metodología de trabajo para el desarrollo del proyecto</a:t>
            </a:r>
            <a:endParaRPr sz="1800">
              <a:solidFill>
                <a:schemeClr val="dk1"/>
              </a:solidFill>
              <a:latin typeface="Calibri"/>
              <a:ea typeface="Calibri"/>
              <a:cs typeface="Calibri"/>
              <a:sym typeface="Calibri"/>
            </a:endParaRPr>
          </a:p>
        </p:txBody>
      </p:sp>
      <p:cxnSp>
        <p:nvCxnSpPr>
          <p:cNvPr id="143" name="Google Shape;143;p6"/>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sp>
        <p:nvSpPr>
          <p:cNvPr id="144" name="Google Shape;144;p6"/>
          <p:cNvSpPr txBox="1"/>
          <p:nvPr/>
        </p:nvSpPr>
        <p:spPr>
          <a:xfrm>
            <a:off x="1084650" y="2251300"/>
            <a:ext cx="9857400" cy="422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CL" sz="2800">
                <a:solidFill>
                  <a:schemeClr val="dk1"/>
                </a:solidFill>
                <a:latin typeface="Calibri"/>
                <a:ea typeface="Calibri"/>
                <a:cs typeface="Calibri"/>
                <a:sym typeface="Calibri"/>
              </a:rPr>
              <a:t>Metodología Kanban</a:t>
            </a:r>
            <a:endParaRPr sz="2800">
              <a:solidFill>
                <a:schemeClr val="dk1"/>
              </a:solidFill>
              <a:latin typeface="Calibri"/>
              <a:ea typeface="Calibri"/>
              <a:cs typeface="Calibri"/>
              <a:sym typeface="Calibri"/>
            </a:endParaRPr>
          </a:p>
          <a:p>
            <a:pPr marL="0" lvl="0" indent="0" algn="l" rtl="0">
              <a:spcBef>
                <a:spcPts val="0"/>
              </a:spcBef>
              <a:spcAft>
                <a:spcPts val="0"/>
              </a:spcAft>
              <a:buNone/>
            </a:pPr>
            <a:endParaRPr sz="2800">
              <a:solidFill>
                <a:schemeClr val="dk1"/>
              </a:solidFill>
              <a:latin typeface="Calibri"/>
              <a:ea typeface="Calibri"/>
              <a:cs typeface="Calibri"/>
              <a:sym typeface="Calibri"/>
            </a:endParaRPr>
          </a:p>
          <a:p>
            <a:pPr marL="457200" lvl="0" indent="-349250" algn="just" rtl="0">
              <a:lnSpc>
                <a:spcPct val="107916"/>
              </a:lnSpc>
              <a:spcBef>
                <a:spcPts val="0"/>
              </a:spcBef>
              <a:spcAft>
                <a:spcPts val="0"/>
              </a:spcAft>
              <a:buClr>
                <a:schemeClr val="dk1"/>
              </a:buClr>
              <a:buSzPts val="1900"/>
              <a:buFont typeface="Calibri"/>
              <a:buChar char="●"/>
            </a:pPr>
            <a:r>
              <a:rPr lang="es-CL" sz="1900">
                <a:solidFill>
                  <a:schemeClr val="dk1"/>
                </a:solidFill>
                <a:latin typeface="Calibri"/>
                <a:ea typeface="Calibri"/>
                <a:cs typeface="Calibri"/>
                <a:sym typeface="Calibri"/>
              </a:rPr>
              <a:t>La metodología Kanban no requiere roles específicos, por lo que se adapta mejor a nuestro equipo.</a:t>
            </a:r>
            <a:endParaRPr sz="1900">
              <a:solidFill>
                <a:schemeClr val="dk1"/>
              </a:solidFill>
              <a:latin typeface="Calibri"/>
              <a:ea typeface="Calibri"/>
              <a:cs typeface="Calibri"/>
              <a:sym typeface="Calibri"/>
            </a:endParaRPr>
          </a:p>
          <a:p>
            <a:pPr marL="457200" lvl="0" indent="-349250" algn="just" rtl="0">
              <a:lnSpc>
                <a:spcPct val="107916"/>
              </a:lnSpc>
              <a:spcBef>
                <a:spcPts val="0"/>
              </a:spcBef>
              <a:spcAft>
                <a:spcPts val="0"/>
              </a:spcAft>
              <a:buClr>
                <a:schemeClr val="dk1"/>
              </a:buClr>
              <a:buSzPts val="1900"/>
              <a:buFont typeface="Calibri"/>
              <a:buChar char="●"/>
            </a:pPr>
            <a:r>
              <a:rPr lang="es-CL" sz="1900">
                <a:solidFill>
                  <a:schemeClr val="dk1"/>
                </a:solidFill>
                <a:latin typeface="Calibri"/>
                <a:ea typeface="Calibri"/>
                <a:cs typeface="Calibri"/>
                <a:sym typeface="Calibri"/>
              </a:rPr>
              <a:t>Permite mantener un flujo de trabajo continuo, donde las tareas pueden priorizarse de forma colaborativa según la carga y urgencia.</a:t>
            </a:r>
            <a:endParaRPr sz="1900">
              <a:solidFill>
                <a:schemeClr val="dk1"/>
              </a:solidFill>
              <a:latin typeface="Calibri"/>
              <a:ea typeface="Calibri"/>
              <a:cs typeface="Calibri"/>
              <a:sym typeface="Calibri"/>
            </a:endParaRPr>
          </a:p>
          <a:p>
            <a:pPr marL="457200" lvl="0" indent="-349250" algn="just" rtl="0">
              <a:lnSpc>
                <a:spcPct val="107916"/>
              </a:lnSpc>
              <a:spcBef>
                <a:spcPts val="0"/>
              </a:spcBef>
              <a:spcAft>
                <a:spcPts val="0"/>
              </a:spcAft>
              <a:buClr>
                <a:schemeClr val="dk1"/>
              </a:buClr>
              <a:buSzPts val="1900"/>
              <a:buFont typeface="Calibri"/>
              <a:buChar char="●"/>
            </a:pPr>
            <a:r>
              <a:rPr lang="es-CL" sz="1900">
                <a:solidFill>
                  <a:schemeClr val="dk1"/>
                </a:solidFill>
                <a:latin typeface="Calibri"/>
                <a:ea typeface="Calibri"/>
                <a:cs typeface="Calibri"/>
                <a:sym typeface="Calibri"/>
              </a:rPr>
              <a:t>Facilita visualizar el progreso del proyecto mediante un tablero, sin necesidad de ciclos fijos de sprint.</a:t>
            </a:r>
            <a:endParaRPr sz="1900">
              <a:solidFill>
                <a:schemeClr val="dk1"/>
              </a:solidFill>
              <a:latin typeface="Calibri"/>
              <a:ea typeface="Calibri"/>
              <a:cs typeface="Calibri"/>
              <a:sym typeface="Calibri"/>
            </a:endParaRPr>
          </a:p>
          <a:p>
            <a:pPr marL="457200" lvl="0" indent="-349250" algn="just" rtl="0">
              <a:lnSpc>
                <a:spcPct val="107916"/>
              </a:lnSpc>
              <a:spcBef>
                <a:spcPts val="0"/>
              </a:spcBef>
              <a:spcAft>
                <a:spcPts val="0"/>
              </a:spcAft>
              <a:buClr>
                <a:schemeClr val="dk1"/>
              </a:buClr>
              <a:buSzPts val="1900"/>
              <a:buFont typeface="Calibri"/>
              <a:buChar char="●"/>
            </a:pPr>
            <a:r>
              <a:rPr lang="es-CL" sz="1900">
                <a:solidFill>
                  <a:schemeClr val="dk1"/>
                </a:solidFill>
                <a:latin typeface="Calibri"/>
                <a:ea typeface="Calibri"/>
                <a:cs typeface="Calibri"/>
                <a:sym typeface="Calibri"/>
              </a:rPr>
              <a:t>El equipo puede ajustar el flujo y mejorar los procesos mediante revisiones periódicas.</a:t>
            </a:r>
            <a:endParaRPr sz="2800">
              <a:solidFill>
                <a:schemeClr val="dk1"/>
              </a:solidFill>
              <a:latin typeface="Calibri"/>
              <a:ea typeface="Calibri"/>
              <a:cs typeface="Calibri"/>
              <a:sym typeface="Calibri"/>
            </a:endParaRPr>
          </a:p>
        </p:txBody>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149" name="Google Shape;149;p7"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50" name="Google Shape;150;p7"/>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rgbClr val="757070"/>
                </a:solidFill>
                <a:latin typeface="Calibri"/>
                <a:ea typeface="Calibri"/>
                <a:cs typeface="Calibri"/>
                <a:sym typeface="Calibri"/>
              </a:rPr>
              <a:t>PROYECTO “DATA SCHOOL”</a:t>
            </a:r>
            <a:endParaRPr/>
          </a:p>
        </p:txBody>
      </p:sp>
      <p:sp>
        <p:nvSpPr>
          <p:cNvPr id="151" name="Google Shape;151;p7"/>
          <p:cNvSpPr txBox="1"/>
          <p:nvPr/>
        </p:nvSpPr>
        <p:spPr>
          <a:xfrm>
            <a:off x="1" y="906431"/>
            <a:ext cx="12192000" cy="892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a:solidFill>
                  <a:schemeClr val="dk1"/>
                </a:solidFill>
                <a:latin typeface="Calibri"/>
                <a:ea typeface="Calibri"/>
                <a:cs typeface="Calibri"/>
                <a:sym typeface="Calibri"/>
              </a:rPr>
              <a:t>Planificación Temporal</a:t>
            </a:r>
            <a:endParaRPr/>
          </a:p>
          <a:p>
            <a:pPr marL="0" marR="0" lvl="0" indent="0" algn="ctr" rtl="0">
              <a:spcBef>
                <a:spcPts val="0"/>
              </a:spcBef>
              <a:spcAft>
                <a:spcPts val="0"/>
              </a:spcAft>
              <a:buNone/>
            </a:pPr>
            <a:r>
              <a:rPr lang="es-CL" sz="1600">
                <a:solidFill>
                  <a:srgbClr val="757070"/>
                </a:solidFill>
                <a:latin typeface="Calibri"/>
                <a:ea typeface="Calibri"/>
                <a:cs typeface="Calibri"/>
                <a:sym typeface="Calibri"/>
              </a:rPr>
              <a:t>Se realiza una planificación temporal inicial para luego monitorear los avances por Trello</a:t>
            </a:r>
            <a:endParaRPr sz="1000">
              <a:solidFill>
                <a:srgbClr val="757070"/>
              </a:solidFill>
              <a:latin typeface="Calibri"/>
              <a:ea typeface="Calibri"/>
              <a:cs typeface="Calibri"/>
              <a:sym typeface="Calibri"/>
            </a:endParaRPr>
          </a:p>
        </p:txBody>
      </p:sp>
      <p:cxnSp>
        <p:nvCxnSpPr>
          <p:cNvPr id="152" name="Google Shape;152;p7"/>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pic>
        <p:nvPicPr>
          <p:cNvPr id="153" name="Google Shape;153;p7"/>
          <p:cNvPicPr preferRelativeResize="0"/>
          <p:nvPr/>
        </p:nvPicPr>
        <p:blipFill>
          <a:blip r:embed="rId4">
            <a:alphaModFix/>
          </a:blip>
          <a:stretch>
            <a:fillRect/>
          </a:stretch>
        </p:blipFill>
        <p:spPr>
          <a:xfrm>
            <a:off x="152400" y="1951631"/>
            <a:ext cx="7925376" cy="4753969"/>
          </a:xfrm>
          <a:prstGeom prst="rect">
            <a:avLst/>
          </a:prstGeom>
          <a:noFill/>
          <a:ln>
            <a:noFill/>
          </a:ln>
        </p:spPr>
      </p:pic>
      <p:pic>
        <p:nvPicPr>
          <p:cNvPr id="154" name="Google Shape;154;p7"/>
          <p:cNvPicPr preferRelativeResize="0"/>
          <p:nvPr/>
        </p:nvPicPr>
        <p:blipFill>
          <a:blip r:embed="rId5">
            <a:alphaModFix/>
          </a:blip>
          <a:stretch>
            <a:fillRect/>
          </a:stretch>
        </p:blipFill>
        <p:spPr>
          <a:xfrm>
            <a:off x="8222751" y="3043394"/>
            <a:ext cx="3809425" cy="2570437"/>
          </a:xfrm>
          <a:prstGeom prst="rect">
            <a:avLst/>
          </a:prstGeom>
          <a:noFill/>
          <a:ln>
            <a:noFill/>
          </a:ln>
        </p:spPr>
      </p:pic>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pic>
        <p:nvPicPr>
          <p:cNvPr id="159" name="Google Shape;159;p8"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60" name="Google Shape;160;p8"/>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rgbClr val="757070"/>
                </a:solidFill>
                <a:latin typeface="Calibri"/>
                <a:ea typeface="Calibri"/>
                <a:cs typeface="Calibri"/>
                <a:sym typeface="Calibri"/>
              </a:rPr>
              <a:t>PROYECTO “DATA SCHOOL”</a:t>
            </a:r>
            <a:endParaRPr/>
          </a:p>
        </p:txBody>
      </p:sp>
      <p:sp>
        <p:nvSpPr>
          <p:cNvPr id="161" name="Google Shape;161;p8"/>
          <p:cNvSpPr txBox="1"/>
          <p:nvPr/>
        </p:nvSpPr>
        <p:spPr>
          <a:xfrm>
            <a:off x="0" y="1432655"/>
            <a:ext cx="12192000" cy="64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a:solidFill>
                  <a:schemeClr val="dk1"/>
                </a:solidFill>
                <a:latin typeface="Calibri"/>
                <a:ea typeface="Calibri"/>
                <a:cs typeface="Calibri"/>
                <a:sym typeface="Calibri"/>
              </a:rPr>
              <a:t>Arquitectura del software</a:t>
            </a:r>
            <a:endParaRPr/>
          </a:p>
        </p:txBody>
      </p:sp>
      <p:cxnSp>
        <p:nvCxnSpPr>
          <p:cNvPr id="162" name="Google Shape;162;p8"/>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pic>
        <p:nvPicPr>
          <p:cNvPr id="163" name="Google Shape;163;p8" title="Diagramas_dataSchool-Arquitectura del sistema.drawio (1).png"/>
          <p:cNvPicPr preferRelativeResize="0"/>
          <p:nvPr/>
        </p:nvPicPr>
        <p:blipFill>
          <a:blip r:embed="rId4">
            <a:alphaModFix/>
          </a:blip>
          <a:stretch>
            <a:fillRect/>
          </a:stretch>
        </p:blipFill>
        <p:spPr>
          <a:xfrm>
            <a:off x="3268600" y="2190655"/>
            <a:ext cx="5389873" cy="4474045"/>
          </a:xfrm>
          <a:prstGeom prst="rect">
            <a:avLst/>
          </a:prstGeom>
          <a:noFill/>
          <a:ln>
            <a:noFill/>
          </a:ln>
        </p:spPr>
      </p:pic>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pic>
        <p:nvPicPr>
          <p:cNvPr id="168" name="Google Shape;168;p9"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69" name="Google Shape;169;p9"/>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rgbClr val="757070"/>
                </a:solidFill>
                <a:latin typeface="Calibri"/>
                <a:ea typeface="Calibri"/>
                <a:cs typeface="Calibri"/>
                <a:sym typeface="Calibri"/>
              </a:rPr>
              <a:t>PROYECTO “DATA SCHOOL”</a:t>
            </a:r>
            <a:endParaRPr/>
          </a:p>
        </p:txBody>
      </p:sp>
      <p:sp>
        <p:nvSpPr>
          <p:cNvPr id="170" name="Google Shape;170;p9"/>
          <p:cNvSpPr txBox="1"/>
          <p:nvPr/>
        </p:nvSpPr>
        <p:spPr>
          <a:xfrm>
            <a:off x="0" y="1432655"/>
            <a:ext cx="12192000" cy="64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a:solidFill>
                  <a:schemeClr val="dk1"/>
                </a:solidFill>
                <a:latin typeface="Calibri"/>
                <a:ea typeface="Calibri"/>
                <a:cs typeface="Calibri"/>
                <a:sym typeface="Calibri"/>
              </a:rPr>
              <a:t>Arquitectura de la solución</a:t>
            </a:r>
            <a:endParaRPr/>
          </a:p>
        </p:txBody>
      </p:sp>
      <p:cxnSp>
        <p:nvCxnSpPr>
          <p:cNvPr id="171" name="Google Shape;171;p9"/>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pic>
        <p:nvPicPr>
          <p:cNvPr id="172" name="Google Shape;172;p9" title="Diagramas_dataSchool-Página-3.drawio (1).png"/>
          <p:cNvPicPr preferRelativeResize="0"/>
          <p:nvPr/>
        </p:nvPicPr>
        <p:blipFill>
          <a:blip r:embed="rId4">
            <a:alphaModFix/>
          </a:blip>
          <a:stretch>
            <a:fillRect/>
          </a:stretch>
        </p:blipFill>
        <p:spPr>
          <a:xfrm>
            <a:off x="2954025" y="2214030"/>
            <a:ext cx="6661468" cy="4474046"/>
          </a:xfrm>
          <a:prstGeom prst="rect">
            <a:avLst/>
          </a:prstGeom>
          <a:noFill/>
          <a:ln>
            <a:noFill/>
          </a:ln>
        </p:spPr>
      </p:pic>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pic>
        <p:nvPicPr>
          <p:cNvPr id="177" name="Google Shape;177;p10"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78" name="Google Shape;178;p10"/>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rgbClr val="757070"/>
                </a:solidFill>
                <a:latin typeface="Calibri"/>
                <a:ea typeface="Calibri"/>
                <a:cs typeface="Calibri"/>
                <a:sym typeface="Calibri"/>
              </a:rPr>
              <a:t>PROYECTO “DATA SCHOOL”</a:t>
            </a:r>
            <a:endParaRPr/>
          </a:p>
        </p:txBody>
      </p:sp>
      <p:sp>
        <p:nvSpPr>
          <p:cNvPr id="179" name="Google Shape;179;p10"/>
          <p:cNvSpPr txBox="1"/>
          <p:nvPr/>
        </p:nvSpPr>
        <p:spPr>
          <a:xfrm>
            <a:off x="0" y="854530"/>
            <a:ext cx="12192000" cy="64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a:solidFill>
                  <a:schemeClr val="dk1"/>
                </a:solidFill>
                <a:latin typeface="Calibri"/>
                <a:ea typeface="Calibri"/>
                <a:cs typeface="Calibri"/>
                <a:sym typeface="Calibri"/>
              </a:rPr>
              <a:t>Modelo de datos</a:t>
            </a:r>
            <a:endParaRPr/>
          </a:p>
        </p:txBody>
      </p:sp>
      <p:cxnSp>
        <p:nvCxnSpPr>
          <p:cNvPr id="180" name="Google Shape;180;p10"/>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pic>
        <p:nvPicPr>
          <p:cNvPr id="181" name="Google Shape;181;p10" title="DataModelDAtaSchool.png"/>
          <p:cNvPicPr preferRelativeResize="0"/>
          <p:nvPr/>
        </p:nvPicPr>
        <p:blipFill>
          <a:blip r:embed="rId4">
            <a:alphaModFix/>
          </a:blip>
          <a:stretch>
            <a:fillRect/>
          </a:stretch>
        </p:blipFill>
        <p:spPr>
          <a:xfrm>
            <a:off x="1222325" y="1617300"/>
            <a:ext cx="9450675" cy="5170899"/>
          </a:xfrm>
          <a:prstGeom prst="rect">
            <a:avLst/>
          </a:prstGeom>
          <a:noFill/>
          <a:ln>
            <a:noFill/>
          </a:ln>
        </p:spPr>
      </p:pic>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g3a5502607a1_1_13"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87" name="Google Shape;187;g3a5502607a1_1_13"/>
          <p:cNvSpPr txBox="1"/>
          <p:nvPr/>
        </p:nvSpPr>
        <p:spPr>
          <a:xfrm>
            <a:off x="136188" y="368928"/>
            <a:ext cx="12192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rgbClr val="757070"/>
                </a:solidFill>
                <a:latin typeface="Calibri"/>
                <a:ea typeface="Calibri"/>
                <a:cs typeface="Calibri"/>
                <a:sym typeface="Calibri"/>
              </a:rPr>
              <a:t>PROYECTO “DATA SCHOOL”</a:t>
            </a:r>
            <a:endParaRPr/>
          </a:p>
        </p:txBody>
      </p:sp>
      <p:sp>
        <p:nvSpPr>
          <p:cNvPr id="188" name="Google Shape;188;g3a5502607a1_1_13"/>
          <p:cNvSpPr txBox="1"/>
          <p:nvPr/>
        </p:nvSpPr>
        <p:spPr>
          <a:xfrm>
            <a:off x="0" y="854530"/>
            <a:ext cx="12192000" cy="64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a:solidFill>
                  <a:schemeClr val="dk1"/>
                </a:solidFill>
                <a:latin typeface="Calibri"/>
                <a:ea typeface="Calibri"/>
                <a:cs typeface="Calibri"/>
                <a:sym typeface="Calibri"/>
              </a:rPr>
              <a:t>Modelo de datos - Encuestas</a:t>
            </a:r>
            <a:endParaRPr/>
          </a:p>
        </p:txBody>
      </p:sp>
      <p:cxnSp>
        <p:nvCxnSpPr>
          <p:cNvPr id="189" name="Google Shape;189;g3a5502607a1_1_13"/>
          <p:cNvCxnSpPr/>
          <p:nvPr/>
        </p:nvCxnSpPr>
        <p:spPr>
          <a:xfrm>
            <a:off x="0" y="758027"/>
            <a:ext cx="4085700" cy="0"/>
          </a:xfrm>
          <a:prstGeom prst="straightConnector1">
            <a:avLst/>
          </a:prstGeom>
          <a:noFill/>
          <a:ln w="15875" cap="flat" cmpd="sng">
            <a:solidFill>
              <a:srgbClr val="F5F7FC"/>
            </a:solidFill>
            <a:prstDash val="solid"/>
            <a:miter lim="800000"/>
            <a:headEnd type="none" w="sm" len="sm"/>
            <a:tailEnd type="none" w="sm" len="sm"/>
          </a:ln>
        </p:spPr>
      </p:cxnSp>
      <p:pic>
        <p:nvPicPr>
          <p:cNvPr id="190" name="Google Shape;190;g3a5502607a1_1_13"/>
          <p:cNvPicPr preferRelativeResize="0"/>
          <p:nvPr/>
        </p:nvPicPr>
        <p:blipFill>
          <a:blip r:embed="rId4">
            <a:alphaModFix/>
          </a:blip>
          <a:stretch>
            <a:fillRect/>
          </a:stretch>
        </p:blipFill>
        <p:spPr>
          <a:xfrm>
            <a:off x="2811225" y="1597530"/>
            <a:ext cx="7096508" cy="505217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11"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96" name="Google Shape;196;p11"/>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rgbClr val="757070"/>
                </a:solidFill>
                <a:latin typeface="Calibri"/>
                <a:ea typeface="Calibri"/>
                <a:cs typeface="Calibri"/>
                <a:sym typeface="Calibri"/>
              </a:rPr>
              <a:t>PROYECTO “DATA SCHOOL”</a:t>
            </a:r>
            <a:endParaRPr/>
          </a:p>
        </p:txBody>
      </p:sp>
      <p:sp>
        <p:nvSpPr>
          <p:cNvPr id="197" name="Google Shape;197;p11"/>
          <p:cNvSpPr txBox="1"/>
          <p:nvPr/>
        </p:nvSpPr>
        <p:spPr>
          <a:xfrm>
            <a:off x="0" y="992901"/>
            <a:ext cx="12192000" cy="8619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a:solidFill>
                  <a:schemeClr val="dk1"/>
                </a:solidFill>
                <a:latin typeface="Calibri"/>
                <a:ea typeface="Calibri"/>
                <a:cs typeface="Calibri"/>
                <a:sym typeface="Calibri"/>
              </a:rPr>
              <a:t>Elementos Analíticos a Incorporar</a:t>
            </a:r>
            <a:endParaRPr/>
          </a:p>
          <a:p>
            <a:pPr marL="0" marR="0" lvl="0" indent="0" algn="ctr" rtl="0">
              <a:spcBef>
                <a:spcPts val="0"/>
              </a:spcBef>
              <a:spcAft>
                <a:spcPts val="0"/>
              </a:spcAft>
              <a:buNone/>
            </a:pPr>
            <a:endParaRPr/>
          </a:p>
        </p:txBody>
      </p:sp>
      <p:cxnSp>
        <p:nvCxnSpPr>
          <p:cNvPr id="198" name="Google Shape;198;p11"/>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sp>
        <p:nvSpPr>
          <p:cNvPr id="199" name="Google Shape;199;p11"/>
          <p:cNvSpPr txBox="1"/>
          <p:nvPr/>
        </p:nvSpPr>
        <p:spPr>
          <a:xfrm>
            <a:off x="557875" y="1854800"/>
            <a:ext cx="11188500" cy="5003100"/>
          </a:xfrm>
          <a:prstGeom prst="rect">
            <a:avLst/>
          </a:prstGeom>
          <a:noFill/>
          <a:ln>
            <a:noFill/>
          </a:ln>
        </p:spPr>
        <p:txBody>
          <a:bodyPr spcFirstLastPara="1" wrap="square" lIns="91425" tIns="91425" rIns="91425" bIns="91425" anchor="t" anchorCtr="0">
            <a:noAutofit/>
          </a:bodyPr>
          <a:lstStyle/>
          <a:p>
            <a:pPr marL="457200" lvl="0" indent="-355600" algn="l" rtl="0">
              <a:lnSpc>
                <a:spcPct val="100000"/>
              </a:lnSpc>
              <a:spcBef>
                <a:spcPts val="2000"/>
              </a:spcBef>
              <a:spcAft>
                <a:spcPts val="0"/>
              </a:spcAft>
              <a:buClr>
                <a:schemeClr val="dk1"/>
              </a:buClr>
              <a:buSzPts val="2000"/>
              <a:buAutoNum type="arabicParenR"/>
            </a:pPr>
            <a:r>
              <a:rPr lang="es-CL" sz="1700" b="1">
                <a:solidFill>
                  <a:schemeClr val="dk1"/>
                </a:solidFill>
              </a:rPr>
              <a:t>Rendimiento Académico Relacionado con Datos Socioeconómicos</a:t>
            </a:r>
            <a:endParaRPr sz="1700" b="1">
              <a:solidFill>
                <a:schemeClr val="dk1"/>
              </a:solidFill>
            </a:endParaRPr>
          </a:p>
          <a:p>
            <a:pPr marL="0" lvl="0" indent="0" algn="l" rtl="0">
              <a:lnSpc>
                <a:spcPct val="100000"/>
              </a:lnSpc>
              <a:spcBef>
                <a:spcPts val="2000"/>
              </a:spcBef>
              <a:spcAft>
                <a:spcPts val="0"/>
              </a:spcAft>
              <a:buNone/>
            </a:pPr>
            <a:r>
              <a:rPr lang="es-CL" sz="1700" b="1">
                <a:solidFill>
                  <a:schemeClr val="dk1"/>
                </a:solidFill>
              </a:rPr>
              <a:t>¿Qué?</a:t>
            </a:r>
            <a:r>
              <a:rPr lang="es-CL" sz="1700">
                <a:solidFill>
                  <a:schemeClr val="dk1"/>
                </a:solidFill>
              </a:rPr>
              <a:t> Correlación entre las condiciones socioeconómicas familiares de los estudiantes y su rendimiento académico</a:t>
            </a:r>
            <a:endParaRPr sz="1700">
              <a:solidFill>
                <a:schemeClr val="dk1"/>
              </a:solidFill>
            </a:endParaRPr>
          </a:p>
          <a:p>
            <a:pPr marL="0" lvl="0" indent="0" algn="l" rtl="0">
              <a:lnSpc>
                <a:spcPct val="100000"/>
              </a:lnSpc>
              <a:spcBef>
                <a:spcPts val="2000"/>
              </a:spcBef>
              <a:spcAft>
                <a:spcPts val="0"/>
              </a:spcAft>
              <a:buNone/>
            </a:pPr>
            <a:r>
              <a:rPr lang="es-CL" sz="1700" b="1">
                <a:solidFill>
                  <a:schemeClr val="dk1"/>
                </a:solidFill>
              </a:rPr>
              <a:t>¿Por qué?: </a:t>
            </a:r>
            <a:endParaRPr sz="1700" b="1">
              <a:solidFill>
                <a:schemeClr val="dk1"/>
              </a:solidFill>
            </a:endParaRPr>
          </a:p>
          <a:p>
            <a:pPr marL="457200" lvl="0" indent="-336550" algn="l" rtl="0">
              <a:lnSpc>
                <a:spcPct val="100000"/>
              </a:lnSpc>
              <a:spcBef>
                <a:spcPts val="2000"/>
              </a:spcBef>
              <a:spcAft>
                <a:spcPts val="0"/>
              </a:spcAft>
              <a:buClr>
                <a:schemeClr val="dk1"/>
              </a:buClr>
              <a:buSzPts val="1700"/>
              <a:buChar char="●"/>
            </a:pPr>
            <a:r>
              <a:rPr lang="es-CL" sz="1700">
                <a:solidFill>
                  <a:schemeClr val="dk1"/>
                </a:solidFill>
              </a:rPr>
              <a:t>Identificar estudiantes vulnerables que necesitan apoyo (becas, útiles, apoyo psicosocial)</a:t>
            </a:r>
            <a:endParaRPr sz="1700">
              <a:solidFill>
                <a:schemeClr val="dk1"/>
              </a:solidFill>
            </a:endParaRPr>
          </a:p>
          <a:p>
            <a:pPr marL="457200" lvl="0" indent="-336550" algn="l" rtl="0">
              <a:lnSpc>
                <a:spcPct val="100000"/>
              </a:lnSpc>
              <a:spcBef>
                <a:spcPts val="0"/>
              </a:spcBef>
              <a:spcAft>
                <a:spcPts val="0"/>
              </a:spcAft>
              <a:buClr>
                <a:schemeClr val="dk1"/>
              </a:buClr>
              <a:buSzPts val="1700"/>
              <a:buChar char="●"/>
            </a:pPr>
            <a:r>
              <a:rPr lang="es-CL" sz="1700">
                <a:solidFill>
                  <a:schemeClr val="dk1"/>
                </a:solidFill>
              </a:rPr>
              <a:t>Focalizar recursos en quienes más lo necesitan</a:t>
            </a:r>
            <a:endParaRPr sz="1700">
              <a:solidFill>
                <a:schemeClr val="dk1"/>
              </a:solidFill>
            </a:endParaRPr>
          </a:p>
          <a:p>
            <a:pPr marL="457200" lvl="0" indent="-336550" algn="l" rtl="0">
              <a:lnSpc>
                <a:spcPct val="100000"/>
              </a:lnSpc>
              <a:spcBef>
                <a:spcPts val="0"/>
              </a:spcBef>
              <a:spcAft>
                <a:spcPts val="0"/>
              </a:spcAft>
              <a:buClr>
                <a:schemeClr val="dk1"/>
              </a:buClr>
              <a:buSzPts val="1700"/>
              <a:buChar char="●"/>
            </a:pPr>
            <a:r>
              <a:rPr lang="es-CL" sz="1700">
                <a:solidFill>
                  <a:schemeClr val="dk1"/>
                </a:solidFill>
              </a:rPr>
              <a:t>Diseñar intervenciones específicas por grupo (talleres, préstamo de equipos)</a:t>
            </a:r>
            <a:endParaRPr sz="1700">
              <a:solidFill>
                <a:schemeClr val="dk1"/>
              </a:solidFill>
            </a:endParaRPr>
          </a:p>
          <a:p>
            <a:pPr marL="0" lvl="0" indent="0" algn="l" rtl="0">
              <a:lnSpc>
                <a:spcPct val="100000"/>
              </a:lnSpc>
              <a:spcBef>
                <a:spcPts val="2000"/>
              </a:spcBef>
              <a:spcAft>
                <a:spcPts val="0"/>
              </a:spcAft>
              <a:buNone/>
            </a:pPr>
            <a:r>
              <a:rPr lang="es-CL" sz="1700" b="1">
                <a:solidFill>
                  <a:schemeClr val="dk1"/>
                </a:solidFill>
              </a:rPr>
              <a:t>¿Como? </a:t>
            </a:r>
            <a:endParaRPr sz="1700" b="1">
              <a:solidFill>
                <a:schemeClr val="dk1"/>
              </a:solidFill>
            </a:endParaRPr>
          </a:p>
          <a:p>
            <a:pPr marL="457200" lvl="0" indent="-336550" algn="l" rtl="0">
              <a:lnSpc>
                <a:spcPct val="100000"/>
              </a:lnSpc>
              <a:spcBef>
                <a:spcPts val="2000"/>
              </a:spcBef>
              <a:spcAft>
                <a:spcPts val="0"/>
              </a:spcAft>
              <a:buClr>
                <a:schemeClr val="dk1"/>
              </a:buClr>
              <a:buSzPts val="1700"/>
              <a:buChar char="●"/>
            </a:pPr>
            <a:r>
              <a:rPr lang="es-CL" sz="1700">
                <a:solidFill>
                  <a:schemeClr val="dk1"/>
                </a:solidFill>
              </a:rPr>
              <a:t>Encuesta socioeconómica obligatoria (ingresos, educación padres, acceso tecnológico)</a:t>
            </a:r>
            <a:endParaRPr sz="1700">
              <a:solidFill>
                <a:schemeClr val="dk1"/>
              </a:solidFill>
            </a:endParaRPr>
          </a:p>
          <a:p>
            <a:pPr marL="457200" lvl="0" indent="-336550" algn="l" rtl="0">
              <a:lnSpc>
                <a:spcPct val="100000"/>
              </a:lnSpc>
              <a:spcBef>
                <a:spcPts val="0"/>
              </a:spcBef>
              <a:spcAft>
                <a:spcPts val="0"/>
              </a:spcAft>
              <a:buClr>
                <a:schemeClr val="dk1"/>
              </a:buClr>
              <a:buSzPts val="1700"/>
              <a:buChar char="●"/>
            </a:pPr>
            <a:r>
              <a:rPr lang="es-CL" sz="1700">
                <a:solidFill>
                  <a:schemeClr val="dk1"/>
                </a:solidFill>
              </a:rPr>
              <a:t>Dashboards: Promedio por quintil, dispersión ingreso vs notas, mapa de calor variables críticas</a:t>
            </a:r>
            <a:endParaRPr sz="1700">
              <a:solidFill>
                <a:schemeClr val="dk1"/>
              </a:solidFill>
            </a:endParaRPr>
          </a:p>
          <a:p>
            <a:pPr marL="0" lvl="0" indent="0" algn="l" rtl="0">
              <a:lnSpc>
                <a:spcPct val="100000"/>
              </a:lnSpc>
              <a:spcBef>
                <a:spcPts val="2000"/>
              </a:spcBef>
              <a:spcAft>
                <a:spcPts val="0"/>
              </a:spcAft>
              <a:buNone/>
            </a:pPr>
            <a:r>
              <a:rPr lang="es-CL" sz="1700" b="1">
                <a:solidFill>
                  <a:schemeClr val="dk1"/>
                </a:solidFill>
              </a:rPr>
              <a:t>Periodicidad</a:t>
            </a:r>
            <a:r>
              <a:rPr lang="es-CL" sz="1700">
                <a:solidFill>
                  <a:schemeClr val="dk1"/>
                </a:solidFill>
              </a:rPr>
              <a:t>: encuesta Anual y análisis semestral</a:t>
            </a:r>
            <a:endParaRPr sz="1700">
              <a:solidFill>
                <a:schemeClr val="dk1"/>
              </a:solidFill>
            </a:endParaRPr>
          </a:p>
          <a:p>
            <a:pPr marL="0" lvl="0" indent="0" algn="l" rtl="0">
              <a:lnSpc>
                <a:spcPct val="115000"/>
              </a:lnSpc>
              <a:spcBef>
                <a:spcPts val="2000"/>
              </a:spcBef>
              <a:spcAft>
                <a:spcPts val="600"/>
              </a:spcAft>
              <a:buNone/>
            </a:pPr>
            <a:endParaRPr sz="1800" b="1">
              <a:solidFill>
                <a:schemeClr val="dk1"/>
              </a:solidFill>
            </a:endParaRPr>
          </a:p>
        </p:txBody>
      </p:sp>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g3a5502607a1_0_10"/>
          <p:cNvSpPr txBox="1">
            <a:spLocks noGrp="1"/>
          </p:cNvSpPr>
          <p:nvPr>
            <p:ph type="subTitle" idx="1"/>
          </p:nvPr>
        </p:nvSpPr>
        <p:spPr>
          <a:xfrm>
            <a:off x="712000" y="1285325"/>
            <a:ext cx="10726200" cy="5378400"/>
          </a:xfrm>
          <a:prstGeom prst="rect">
            <a:avLst/>
          </a:prstGeom>
        </p:spPr>
        <p:txBody>
          <a:bodyPr spcFirstLastPara="1" wrap="square" lIns="91425" tIns="45700" rIns="91425" bIns="45700" anchor="t" anchorCtr="0">
            <a:normAutofit/>
          </a:bodyPr>
          <a:lstStyle/>
          <a:p>
            <a:pPr marL="0" lvl="0" indent="0" algn="l" rtl="0">
              <a:lnSpc>
                <a:spcPct val="100000"/>
              </a:lnSpc>
              <a:spcBef>
                <a:spcPts val="2000"/>
              </a:spcBef>
              <a:spcAft>
                <a:spcPts val="0"/>
              </a:spcAft>
              <a:buNone/>
            </a:pPr>
            <a:r>
              <a:rPr lang="es-CL" sz="1700" b="1">
                <a:latin typeface="Arial"/>
                <a:ea typeface="Arial"/>
                <a:cs typeface="Arial"/>
                <a:sym typeface="Arial"/>
              </a:rPr>
              <a:t>2)  Rendimiento Relacionado con Horario de Clases</a:t>
            </a:r>
            <a:endParaRPr sz="1700" b="1">
              <a:latin typeface="Arial"/>
              <a:ea typeface="Arial"/>
              <a:cs typeface="Arial"/>
              <a:sym typeface="Arial"/>
            </a:endParaRPr>
          </a:p>
          <a:p>
            <a:pPr marL="0" lvl="0" indent="0" algn="l" rtl="0">
              <a:lnSpc>
                <a:spcPct val="100000"/>
              </a:lnSpc>
              <a:spcBef>
                <a:spcPts val="2000"/>
              </a:spcBef>
              <a:spcAft>
                <a:spcPts val="0"/>
              </a:spcAft>
              <a:buClr>
                <a:schemeClr val="dk1"/>
              </a:buClr>
              <a:buSzPts val="1100"/>
              <a:buFont typeface="Arial"/>
              <a:buNone/>
            </a:pPr>
            <a:r>
              <a:rPr lang="es-CL" sz="1700" b="1">
                <a:latin typeface="Arial"/>
                <a:ea typeface="Arial"/>
                <a:cs typeface="Arial"/>
                <a:sym typeface="Arial"/>
              </a:rPr>
              <a:t>¿Qué? </a:t>
            </a:r>
            <a:r>
              <a:rPr lang="es-CL" sz="1700">
                <a:latin typeface="Arial"/>
                <a:ea typeface="Arial"/>
                <a:cs typeface="Arial"/>
                <a:sym typeface="Arial"/>
              </a:rPr>
              <a:t>Impacto del horario de clases (hora del día, día de la semana) en rendimiento y asistencia</a:t>
            </a:r>
            <a:endParaRPr sz="1700">
              <a:latin typeface="Arial"/>
              <a:ea typeface="Arial"/>
              <a:cs typeface="Arial"/>
              <a:sym typeface="Arial"/>
            </a:endParaRPr>
          </a:p>
          <a:p>
            <a:pPr marL="0" lvl="0" indent="0" algn="l" rtl="0">
              <a:lnSpc>
                <a:spcPct val="100000"/>
              </a:lnSpc>
              <a:spcBef>
                <a:spcPts val="2000"/>
              </a:spcBef>
              <a:spcAft>
                <a:spcPts val="0"/>
              </a:spcAft>
              <a:buClr>
                <a:schemeClr val="dk1"/>
              </a:buClr>
              <a:buSzPts val="1100"/>
              <a:buFont typeface="Arial"/>
              <a:buNone/>
            </a:pPr>
            <a:r>
              <a:rPr lang="es-CL" sz="1700" b="1">
                <a:latin typeface="Arial"/>
                <a:ea typeface="Arial"/>
                <a:cs typeface="Arial"/>
                <a:sym typeface="Arial"/>
              </a:rPr>
              <a:t>¿Por qué?: </a:t>
            </a:r>
            <a:endParaRPr sz="1700" b="1">
              <a:latin typeface="Arial"/>
              <a:ea typeface="Arial"/>
              <a:cs typeface="Arial"/>
              <a:sym typeface="Arial"/>
            </a:endParaRPr>
          </a:p>
          <a:p>
            <a:pPr marL="457200" lvl="0" indent="-336550" algn="l" rtl="0">
              <a:lnSpc>
                <a:spcPct val="100000"/>
              </a:lnSpc>
              <a:spcBef>
                <a:spcPts val="2000"/>
              </a:spcBef>
              <a:spcAft>
                <a:spcPts val="0"/>
              </a:spcAft>
              <a:buSzPts val="1700"/>
              <a:buChar char="●"/>
            </a:pPr>
            <a:r>
              <a:rPr lang="es-CL" sz="1700">
                <a:latin typeface="Arial"/>
                <a:ea typeface="Arial"/>
                <a:cs typeface="Arial"/>
                <a:sym typeface="Arial"/>
              </a:rPr>
              <a:t>Optimizar distribución de asignaturas críticas en mejores bloques horarios</a:t>
            </a:r>
            <a:endParaRPr sz="1700">
              <a:latin typeface="Arial"/>
              <a:ea typeface="Arial"/>
              <a:cs typeface="Arial"/>
              <a:sym typeface="Arial"/>
            </a:endParaRPr>
          </a:p>
          <a:p>
            <a:pPr marL="457200" lvl="0" indent="-336550" algn="l" rtl="0">
              <a:lnSpc>
                <a:spcPct val="100000"/>
              </a:lnSpc>
              <a:spcBef>
                <a:spcPts val="0"/>
              </a:spcBef>
              <a:spcAft>
                <a:spcPts val="0"/>
              </a:spcAft>
              <a:buSzPts val="1700"/>
              <a:buChar char="●"/>
            </a:pPr>
            <a:r>
              <a:rPr lang="es-CL" sz="1700">
                <a:latin typeface="Arial"/>
                <a:ea typeface="Arial"/>
                <a:cs typeface="Arial"/>
                <a:sym typeface="Arial"/>
              </a:rPr>
              <a:t>Evitar evaluaciones en horarios de bajo rendimiento</a:t>
            </a:r>
            <a:endParaRPr sz="1700">
              <a:latin typeface="Arial"/>
              <a:ea typeface="Arial"/>
              <a:cs typeface="Arial"/>
              <a:sym typeface="Arial"/>
            </a:endParaRPr>
          </a:p>
          <a:p>
            <a:pPr marL="457200" lvl="0" indent="-336550" algn="l" rtl="0">
              <a:lnSpc>
                <a:spcPct val="100000"/>
              </a:lnSpc>
              <a:spcBef>
                <a:spcPts val="0"/>
              </a:spcBef>
              <a:spcAft>
                <a:spcPts val="0"/>
              </a:spcAft>
              <a:buSzPts val="1700"/>
              <a:buChar char="●"/>
            </a:pPr>
            <a:r>
              <a:rPr lang="es-CL" sz="1700">
                <a:latin typeface="Arial"/>
                <a:ea typeface="Arial"/>
                <a:cs typeface="Arial"/>
                <a:sym typeface="Arial"/>
              </a:rPr>
              <a:t>Mejorar asistencia con horarios óptimos</a:t>
            </a:r>
            <a:endParaRPr sz="1700">
              <a:latin typeface="Arial"/>
              <a:ea typeface="Arial"/>
              <a:cs typeface="Arial"/>
              <a:sym typeface="Arial"/>
            </a:endParaRPr>
          </a:p>
          <a:p>
            <a:pPr marL="457200" lvl="0" indent="-336550" algn="l" rtl="0">
              <a:lnSpc>
                <a:spcPct val="100000"/>
              </a:lnSpc>
              <a:spcBef>
                <a:spcPts val="0"/>
              </a:spcBef>
              <a:spcAft>
                <a:spcPts val="0"/>
              </a:spcAft>
              <a:buSzPts val="1700"/>
              <a:buChar char="●"/>
            </a:pPr>
            <a:r>
              <a:rPr lang="es-CL" sz="1700">
                <a:latin typeface="Arial"/>
                <a:ea typeface="Arial"/>
                <a:cs typeface="Arial"/>
                <a:sym typeface="Arial"/>
              </a:rPr>
              <a:t>Fundamentar cambios en malla horaria con datos</a:t>
            </a:r>
            <a:endParaRPr sz="1700">
              <a:latin typeface="Arial"/>
              <a:ea typeface="Arial"/>
              <a:cs typeface="Arial"/>
              <a:sym typeface="Arial"/>
            </a:endParaRPr>
          </a:p>
          <a:p>
            <a:pPr marL="0" lvl="0" indent="0" algn="l" rtl="0">
              <a:lnSpc>
                <a:spcPct val="100000"/>
              </a:lnSpc>
              <a:spcBef>
                <a:spcPts val="2000"/>
              </a:spcBef>
              <a:spcAft>
                <a:spcPts val="0"/>
              </a:spcAft>
              <a:buClr>
                <a:schemeClr val="dk1"/>
              </a:buClr>
              <a:buSzPts val="1100"/>
              <a:buFont typeface="Arial"/>
              <a:buNone/>
            </a:pPr>
            <a:r>
              <a:rPr lang="es-CL" sz="1700" b="1">
                <a:latin typeface="Arial"/>
                <a:ea typeface="Arial"/>
                <a:cs typeface="Arial"/>
                <a:sym typeface="Arial"/>
              </a:rPr>
              <a:t>¿Como? </a:t>
            </a:r>
            <a:endParaRPr sz="1700" b="1">
              <a:latin typeface="Arial"/>
              <a:ea typeface="Arial"/>
              <a:cs typeface="Arial"/>
              <a:sym typeface="Arial"/>
            </a:endParaRPr>
          </a:p>
          <a:p>
            <a:pPr marL="457200" lvl="0" indent="-336550" algn="l" rtl="0">
              <a:lnSpc>
                <a:spcPct val="100000"/>
              </a:lnSpc>
              <a:spcBef>
                <a:spcPts val="2000"/>
              </a:spcBef>
              <a:spcAft>
                <a:spcPts val="0"/>
              </a:spcAft>
              <a:buSzPts val="1700"/>
              <a:buChar char="●"/>
            </a:pPr>
            <a:r>
              <a:rPr lang="es-CL" sz="1700">
                <a:latin typeface="Arial"/>
                <a:ea typeface="Arial"/>
                <a:cs typeface="Arial"/>
                <a:sym typeface="Arial"/>
              </a:rPr>
              <a:t>Segmentación por bloques y días de semana</a:t>
            </a:r>
            <a:endParaRPr sz="1700">
              <a:latin typeface="Arial"/>
              <a:ea typeface="Arial"/>
              <a:cs typeface="Arial"/>
              <a:sym typeface="Arial"/>
            </a:endParaRPr>
          </a:p>
          <a:p>
            <a:pPr marL="457200" lvl="0" indent="-336550" algn="l" rtl="0">
              <a:lnSpc>
                <a:spcPct val="100000"/>
              </a:lnSpc>
              <a:spcBef>
                <a:spcPts val="0"/>
              </a:spcBef>
              <a:spcAft>
                <a:spcPts val="0"/>
              </a:spcAft>
              <a:buSzPts val="1700"/>
              <a:buChar char="●"/>
            </a:pPr>
            <a:r>
              <a:rPr lang="es-CL" sz="1700">
                <a:latin typeface="Arial"/>
                <a:ea typeface="Arial"/>
                <a:cs typeface="Arial"/>
                <a:sym typeface="Arial"/>
              </a:rPr>
              <a:t>Calcular por segmento: Promedio de notas, % asistencia, observaciones conductuales</a:t>
            </a:r>
            <a:endParaRPr sz="1700">
              <a:latin typeface="Arial"/>
              <a:ea typeface="Arial"/>
              <a:cs typeface="Arial"/>
              <a:sym typeface="Arial"/>
            </a:endParaRPr>
          </a:p>
          <a:p>
            <a:pPr marL="457200" lvl="0" indent="-336550" algn="l" rtl="0">
              <a:lnSpc>
                <a:spcPct val="100000"/>
              </a:lnSpc>
              <a:spcBef>
                <a:spcPts val="0"/>
              </a:spcBef>
              <a:spcAft>
                <a:spcPts val="0"/>
              </a:spcAft>
              <a:buSzPts val="1700"/>
              <a:buChar char="●"/>
            </a:pPr>
            <a:r>
              <a:rPr lang="es-CL" sz="1700">
                <a:latin typeface="Arial"/>
                <a:ea typeface="Arial"/>
                <a:cs typeface="Arial"/>
                <a:sym typeface="Arial"/>
              </a:rPr>
              <a:t>Visualización: Mapa de calor rendimiento por hora/día</a:t>
            </a:r>
            <a:endParaRPr sz="1700">
              <a:latin typeface="Arial"/>
              <a:ea typeface="Arial"/>
              <a:cs typeface="Arial"/>
              <a:sym typeface="Arial"/>
            </a:endParaRPr>
          </a:p>
          <a:p>
            <a:pPr marL="0" lvl="0" indent="0" algn="l" rtl="0">
              <a:lnSpc>
                <a:spcPct val="100000"/>
              </a:lnSpc>
              <a:spcBef>
                <a:spcPts val="2000"/>
              </a:spcBef>
              <a:spcAft>
                <a:spcPts val="600"/>
              </a:spcAft>
              <a:buClr>
                <a:schemeClr val="dk1"/>
              </a:buClr>
              <a:buSzPts val="1100"/>
              <a:buFont typeface="Arial"/>
              <a:buNone/>
            </a:pPr>
            <a:r>
              <a:rPr lang="es-CL" sz="1700" b="1">
                <a:latin typeface="Arial"/>
                <a:ea typeface="Arial"/>
                <a:cs typeface="Arial"/>
                <a:sym typeface="Arial"/>
              </a:rPr>
              <a:t>Periodicidad</a:t>
            </a:r>
            <a:r>
              <a:rPr lang="es-CL" sz="1700">
                <a:latin typeface="Arial"/>
                <a:ea typeface="Arial"/>
                <a:cs typeface="Arial"/>
                <a:sym typeface="Arial"/>
              </a:rPr>
              <a:t>: Recolección y análisis: Semestral</a:t>
            </a:r>
            <a:endParaRPr/>
          </a:p>
        </p:txBody>
      </p:sp>
      <p:sp>
        <p:nvSpPr>
          <p:cNvPr id="205" name="Google Shape;205;g3a5502607a1_0_10"/>
          <p:cNvSpPr txBox="1"/>
          <p:nvPr/>
        </p:nvSpPr>
        <p:spPr>
          <a:xfrm>
            <a:off x="136188" y="368928"/>
            <a:ext cx="12192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rgbClr val="757070"/>
                </a:solidFill>
                <a:latin typeface="Calibri"/>
                <a:ea typeface="Calibri"/>
                <a:cs typeface="Calibri"/>
                <a:sym typeface="Calibri"/>
              </a:rPr>
              <a:t>PROYECTO “DATA SCHOOL”</a:t>
            </a:r>
            <a:endParaRPr/>
          </a:p>
        </p:txBody>
      </p:sp>
      <p:pic>
        <p:nvPicPr>
          <p:cNvPr id="206" name="Google Shape;206;g3a5502607a1_0_10"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g3a5502607a1_0_15"/>
          <p:cNvSpPr txBox="1">
            <a:spLocks noGrp="1"/>
          </p:cNvSpPr>
          <p:nvPr>
            <p:ph type="subTitle" idx="1"/>
          </p:nvPr>
        </p:nvSpPr>
        <p:spPr>
          <a:xfrm>
            <a:off x="458875" y="890125"/>
            <a:ext cx="10955400" cy="6037800"/>
          </a:xfrm>
          <a:prstGeom prst="rect">
            <a:avLst/>
          </a:prstGeom>
        </p:spPr>
        <p:txBody>
          <a:bodyPr spcFirstLastPara="1" wrap="square" lIns="91425" tIns="45700" rIns="91425" bIns="45700" anchor="t" anchorCtr="0">
            <a:normAutofit/>
          </a:bodyPr>
          <a:lstStyle/>
          <a:p>
            <a:pPr marL="0" lvl="0" indent="0" algn="l" rtl="0">
              <a:lnSpc>
                <a:spcPct val="115000"/>
              </a:lnSpc>
              <a:spcBef>
                <a:spcPts val="1200"/>
              </a:spcBef>
              <a:spcAft>
                <a:spcPts val="0"/>
              </a:spcAft>
              <a:buClr>
                <a:schemeClr val="dk1"/>
              </a:buClr>
              <a:buSzPts val="1100"/>
              <a:buFont typeface="Arial"/>
              <a:buNone/>
            </a:pPr>
            <a:r>
              <a:rPr lang="es-CL" sz="1500" b="1">
                <a:latin typeface="Arial"/>
                <a:ea typeface="Arial"/>
                <a:cs typeface="Arial"/>
                <a:sym typeface="Arial"/>
              </a:rPr>
              <a:t>Análisis de Convivencia y Rendimiento Académico</a:t>
            </a:r>
            <a:endParaRPr sz="1500" b="1">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s-CL" sz="1700" b="1">
                <a:latin typeface="Arial"/>
                <a:ea typeface="Arial"/>
                <a:cs typeface="Arial"/>
                <a:sym typeface="Arial"/>
              </a:rPr>
              <a:t>¿Qué?</a:t>
            </a:r>
            <a:br>
              <a:rPr lang="es-CL" sz="1500" b="1">
                <a:latin typeface="Arial"/>
                <a:ea typeface="Arial"/>
                <a:cs typeface="Arial"/>
                <a:sym typeface="Arial"/>
              </a:rPr>
            </a:br>
            <a:r>
              <a:rPr lang="es-CL" sz="1500">
                <a:latin typeface="Arial"/>
                <a:ea typeface="Arial"/>
                <a:cs typeface="Arial"/>
                <a:sym typeface="Arial"/>
              </a:rPr>
              <a:t> Relacionar las anotaciones positivas y negativas, la dinámica social del aula y el rendimiento académico de los estudiantes.</a:t>
            </a:r>
            <a:endParaRPr sz="1500">
              <a:latin typeface="Arial"/>
              <a:ea typeface="Arial"/>
              <a:cs typeface="Arial"/>
              <a:sym typeface="Arial"/>
            </a:endParaRPr>
          </a:p>
          <a:p>
            <a:pPr marL="0" lvl="0" indent="0" algn="l" rtl="0">
              <a:lnSpc>
                <a:spcPct val="100000"/>
              </a:lnSpc>
              <a:spcBef>
                <a:spcPts val="2000"/>
              </a:spcBef>
              <a:spcAft>
                <a:spcPts val="0"/>
              </a:spcAft>
              <a:buNone/>
            </a:pPr>
            <a:r>
              <a:rPr lang="es-CL" sz="1700" b="1">
                <a:latin typeface="Arial"/>
                <a:ea typeface="Arial"/>
                <a:cs typeface="Arial"/>
                <a:sym typeface="Arial"/>
              </a:rPr>
              <a:t>¿Por qué?: </a:t>
            </a:r>
            <a:endParaRPr sz="1500" b="1">
              <a:latin typeface="Arial"/>
              <a:ea typeface="Arial"/>
              <a:cs typeface="Arial"/>
              <a:sym typeface="Arial"/>
            </a:endParaRPr>
          </a:p>
          <a:p>
            <a:pPr marL="457200" lvl="0" indent="-323850" algn="l" rtl="0">
              <a:lnSpc>
                <a:spcPct val="115000"/>
              </a:lnSpc>
              <a:spcBef>
                <a:spcPts val="1200"/>
              </a:spcBef>
              <a:spcAft>
                <a:spcPts val="0"/>
              </a:spcAft>
              <a:buSzPts val="1500"/>
              <a:buChar char="●"/>
            </a:pPr>
            <a:r>
              <a:rPr lang="es-CL" sz="1500">
                <a:latin typeface="Arial"/>
                <a:ea typeface="Arial"/>
                <a:cs typeface="Arial"/>
                <a:sym typeface="Arial"/>
              </a:rPr>
              <a:t>Detectar cómo la convivencia afecta las notas.</a:t>
            </a:r>
            <a:endParaRPr sz="1500">
              <a:latin typeface="Arial"/>
              <a:ea typeface="Arial"/>
              <a:cs typeface="Arial"/>
              <a:sym typeface="Arial"/>
            </a:endParaRPr>
          </a:p>
          <a:p>
            <a:pPr marL="457200" lvl="0" indent="-323850" algn="l" rtl="0">
              <a:lnSpc>
                <a:spcPct val="115000"/>
              </a:lnSpc>
              <a:spcBef>
                <a:spcPts val="0"/>
              </a:spcBef>
              <a:spcAft>
                <a:spcPts val="0"/>
              </a:spcAft>
              <a:buSzPts val="1500"/>
              <a:buChar char="●"/>
            </a:pPr>
            <a:r>
              <a:rPr lang="es-CL" sz="1500">
                <a:latin typeface="Arial"/>
                <a:ea typeface="Arial"/>
                <a:cs typeface="Arial"/>
                <a:sym typeface="Arial"/>
              </a:rPr>
              <a:t>Identificar estudiantes en riesgo por factores sociales.</a:t>
            </a:r>
            <a:endParaRPr sz="1500">
              <a:latin typeface="Arial"/>
              <a:ea typeface="Arial"/>
              <a:cs typeface="Arial"/>
              <a:sym typeface="Arial"/>
            </a:endParaRPr>
          </a:p>
          <a:p>
            <a:pPr marL="457200" lvl="0" indent="-323850" algn="l" rtl="0">
              <a:lnSpc>
                <a:spcPct val="115000"/>
              </a:lnSpc>
              <a:spcBef>
                <a:spcPts val="0"/>
              </a:spcBef>
              <a:spcAft>
                <a:spcPts val="0"/>
              </a:spcAft>
              <a:buSzPts val="1500"/>
              <a:buChar char="●"/>
            </a:pPr>
            <a:r>
              <a:rPr lang="es-CL" sz="1500">
                <a:latin typeface="Arial"/>
                <a:ea typeface="Arial"/>
                <a:cs typeface="Arial"/>
                <a:sym typeface="Arial"/>
              </a:rPr>
              <a:t>Apoyar decisiones de intervención basadas en evidencia.</a:t>
            </a:r>
            <a:endParaRPr sz="1500">
              <a:latin typeface="Arial"/>
              <a:ea typeface="Arial"/>
              <a:cs typeface="Arial"/>
              <a:sym typeface="Arial"/>
            </a:endParaRPr>
          </a:p>
          <a:p>
            <a:pPr marL="0" lvl="0" indent="0" algn="l" rtl="0">
              <a:lnSpc>
                <a:spcPct val="100000"/>
              </a:lnSpc>
              <a:spcBef>
                <a:spcPts val="2000"/>
              </a:spcBef>
              <a:spcAft>
                <a:spcPts val="0"/>
              </a:spcAft>
              <a:buNone/>
            </a:pPr>
            <a:r>
              <a:rPr lang="es-CL" sz="1700" b="1">
                <a:latin typeface="Arial"/>
                <a:ea typeface="Arial"/>
                <a:cs typeface="Arial"/>
                <a:sym typeface="Arial"/>
              </a:rPr>
              <a:t>¿Como?:</a:t>
            </a:r>
            <a:endParaRPr sz="1500" b="1">
              <a:latin typeface="Arial"/>
              <a:ea typeface="Arial"/>
              <a:cs typeface="Arial"/>
              <a:sym typeface="Arial"/>
            </a:endParaRPr>
          </a:p>
          <a:p>
            <a:pPr marL="457200" lvl="0" indent="-323850" algn="l" rtl="0">
              <a:lnSpc>
                <a:spcPct val="115000"/>
              </a:lnSpc>
              <a:spcBef>
                <a:spcPts val="1200"/>
              </a:spcBef>
              <a:spcAft>
                <a:spcPts val="0"/>
              </a:spcAft>
              <a:buSzPts val="1500"/>
              <a:buChar char="●"/>
            </a:pPr>
            <a:r>
              <a:rPr lang="es-CL" sz="1500">
                <a:latin typeface="Arial"/>
                <a:ea typeface="Arial"/>
                <a:cs typeface="Arial"/>
                <a:sym typeface="Arial"/>
              </a:rPr>
              <a:t>Registrar anotaciones por estudiante.</a:t>
            </a:r>
            <a:endParaRPr sz="1500">
              <a:latin typeface="Arial"/>
              <a:ea typeface="Arial"/>
              <a:cs typeface="Arial"/>
              <a:sym typeface="Arial"/>
            </a:endParaRPr>
          </a:p>
          <a:p>
            <a:pPr marL="457200" lvl="0" indent="-323850" algn="l" rtl="0">
              <a:lnSpc>
                <a:spcPct val="115000"/>
              </a:lnSpc>
              <a:spcBef>
                <a:spcPts val="0"/>
              </a:spcBef>
              <a:spcAft>
                <a:spcPts val="0"/>
              </a:spcAft>
              <a:buSzPts val="1500"/>
              <a:buChar char="●"/>
            </a:pPr>
            <a:r>
              <a:rPr lang="es-CL" sz="1500">
                <a:latin typeface="Arial"/>
                <a:ea typeface="Arial"/>
                <a:cs typeface="Arial"/>
                <a:sym typeface="Arial"/>
              </a:rPr>
              <a:t>Considerar ubicación en sala y compañeros cercanos.</a:t>
            </a:r>
            <a:endParaRPr sz="1500">
              <a:latin typeface="Arial"/>
              <a:ea typeface="Arial"/>
              <a:cs typeface="Arial"/>
              <a:sym typeface="Arial"/>
            </a:endParaRPr>
          </a:p>
          <a:p>
            <a:pPr marL="457200" lvl="0" indent="-323850" algn="l" rtl="0">
              <a:lnSpc>
                <a:spcPct val="115000"/>
              </a:lnSpc>
              <a:spcBef>
                <a:spcPts val="0"/>
              </a:spcBef>
              <a:spcAft>
                <a:spcPts val="0"/>
              </a:spcAft>
              <a:buSzPts val="1500"/>
              <a:buChar char="●"/>
            </a:pPr>
            <a:r>
              <a:rPr lang="es-CL" sz="1500">
                <a:latin typeface="Arial"/>
                <a:ea typeface="Arial"/>
                <a:cs typeface="Arial"/>
                <a:sym typeface="Arial"/>
              </a:rPr>
              <a:t>Cruzar datos con promedios académicos.</a:t>
            </a:r>
            <a:endParaRPr sz="1500">
              <a:latin typeface="Arial"/>
              <a:ea typeface="Arial"/>
              <a:cs typeface="Arial"/>
              <a:sym typeface="Arial"/>
            </a:endParaRPr>
          </a:p>
          <a:p>
            <a:pPr marL="457200" lvl="0" indent="-323850" algn="l" rtl="0">
              <a:lnSpc>
                <a:spcPct val="115000"/>
              </a:lnSpc>
              <a:spcBef>
                <a:spcPts val="0"/>
              </a:spcBef>
              <a:spcAft>
                <a:spcPts val="0"/>
              </a:spcAft>
              <a:buSzPts val="1500"/>
              <a:buChar char="●"/>
            </a:pPr>
            <a:r>
              <a:rPr lang="es-CL" sz="1500">
                <a:latin typeface="Arial"/>
                <a:ea typeface="Arial"/>
                <a:cs typeface="Arial"/>
                <a:sym typeface="Arial"/>
              </a:rPr>
              <a:t>Visualizaciones:</a:t>
            </a:r>
            <a:endParaRPr sz="1500">
              <a:latin typeface="Arial"/>
              <a:ea typeface="Arial"/>
              <a:cs typeface="Arial"/>
              <a:sym typeface="Arial"/>
            </a:endParaRPr>
          </a:p>
          <a:p>
            <a:pPr marL="914400" lvl="1" indent="-323850" algn="l" rtl="0">
              <a:lnSpc>
                <a:spcPct val="115000"/>
              </a:lnSpc>
              <a:spcBef>
                <a:spcPts val="0"/>
              </a:spcBef>
              <a:spcAft>
                <a:spcPts val="0"/>
              </a:spcAft>
              <a:buSzPts val="1500"/>
              <a:buChar char="○"/>
            </a:pPr>
            <a:r>
              <a:rPr lang="es-CL" sz="1500">
                <a:latin typeface="Arial"/>
                <a:ea typeface="Arial"/>
                <a:cs typeface="Arial"/>
                <a:sym typeface="Arial"/>
              </a:rPr>
              <a:t>Gráfico conducta vs notas</a:t>
            </a:r>
            <a:endParaRPr sz="1500">
              <a:latin typeface="Arial"/>
              <a:ea typeface="Arial"/>
              <a:cs typeface="Arial"/>
              <a:sym typeface="Arial"/>
            </a:endParaRPr>
          </a:p>
          <a:p>
            <a:pPr marL="914400" lvl="1" indent="-323850" algn="l" rtl="0">
              <a:lnSpc>
                <a:spcPct val="115000"/>
              </a:lnSpc>
              <a:spcBef>
                <a:spcPts val="0"/>
              </a:spcBef>
              <a:spcAft>
                <a:spcPts val="0"/>
              </a:spcAft>
              <a:buSzPts val="1500"/>
              <a:buChar char="○"/>
            </a:pPr>
            <a:r>
              <a:rPr lang="es-CL" sz="1500">
                <a:latin typeface="Arial"/>
                <a:ea typeface="Arial"/>
                <a:cs typeface="Arial"/>
                <a:sym typeface="Arial"/>
              </a:rPr>
              <a:t>Mapa de aula con convivencia y rendimiento</a:t>
            </a:r>
            <a:br>
              <a:rPr lang="es-CL" sz="1500">
                <a:latin typeface="Arial"/>
                <a:ea typeface="Arial"/>
                <a:cs typeface="Arial"/>
                <a:sym typeface="Arial"/>
              </a:rPr>
            </a:br>
            <a:endParaRPr sz="15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s-CL" sz="1500" b="1">
                <a:latin typeface="Arial"/>
                <a:ea typeface="Arial"/>
                <a:cs typeface="Arial"/>
                <a:sym typeface="Arial"/>
              </a:rPr>
              <a:t>Periodicidad:</a:t>
            </a:r>
            <a:br>
              <a:rPr lang="es-CL" sz="1500" b="1">
                <a:latin typeface="Arial"/>
                <a:ea typeface="Arial"/>
                <a:cs typeface="Arial"/>
                <a:sym typeface="Arial"/>
              </a:rPr>
            </a:br>
            <a:r>
              <a:rPr lang="es-CL" sz="1500">
                <a:latin typeface="Arial"/>
                <a:ea typeface="Arial"/>
                <a:cs typeface="Arial"/>
                <a:sym typeface="Arial"/>
              </a:rPr>
              <a:t> Mensual con revisión semestral.</a:t>
            </a:r>
            <a:endParaRPr sz="1500">
              <a:latin typeface="Arial"/>
              <a:ea typeface="Arial"/>
              <a:cs typeface="Arial"/>
              <a:sym typeface="Arial"/>
            </a:endParaRPr>
          </a:p>
          <a:p>
            <a:pPr marL="0" lvl="0" indent="0" algn="l" rtl="0">
              <a:lnSpc>
                <a:spcPct val="115000"/>
              </a:lnSpc>
              <a:spcBef>
                <a:spcPts val="1200"/>
              </a:spcBef>
              <a:spcAft>
                <a:spcPts val="1200"/>
              </a:spcAft>
              <a:buClr>
                <a:schemeClr val="dk1"/>
              </a:buClr>
              <a:buSzPts val="1100"/>
              <a:buFont typeface="Arial"/>
              <a:buNone/>
            </a:pPr>
            <a:endParaRPr sz="1100" b="1">
              <a:latin typeface="Arial"/>
              <a:ea typeface="Arial"/>
              <a:cs typeface="Arial"/>
              <a:sym typeface="Arial"/>
            </a:endParaRPr>
          </a:p>
        </p:txBody>
      </p:sp>
      <p:sp>
        <p:nvSpPr>
          <p:cNvPr id="212" name="Google Shape;212;g3a5502607a1_0_15"/>
          <p:cNvSpPr txBox="1"/>
          <p:nvPr/>
        </p:nvSpPr>
        <p:spPr>
          <a:xfrm>
            <a:off x="124488" y="368928"/>
            <a:ext cx="12192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rgbClr val="757070"/>
                </a:solidFill>
                <a:latin typeface="Calibri"/>
                <a:ea typeface="Calibri"/>
                <a:cs typeface="Calibri"/>
                <a:sym typeface="Calibri"/>
              </a:rPr>
              <a:t>PROYECTO “DATA SCHOOL”</a:t>
            </a:r>
            <a:endParaRPr/>
          </a:p>
        </p:txBody>
      </p:sp>
      <p:pic>
        <p:nvPicPr>
          <p:cNvPr id="213" name="Google Shape;213;g3a5502607a1_0_15"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pic>
        <p:nvPicPr>
          <p:cNvPr id="218" name="Google Shape;218;p12"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219" name="Google Shape;219;p12"/>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rgbClr val="757070"/>
                </a:solidFill>
                <a:latin typeface="Calibri"/>
                <a:ea typeface="Calibri"/>
                <a:cs typeface="Calibri"/>
                <a:sym typeface="Calibri"/>
              </a:rPr>
              <a:t>PROYECTO “DATA SCHOOL”</a:t>
            </a:r>
            <a:endParaRPr/>
          </a:p>
        </p:txBody>
      </p:sp>
      <p:sp>
        <p:nvSpPr>
          <p:cNvPr id="220" name="Google Shape;220;p12"/>
          <p:cNvSpPr txBox="1"/>
          <p:nvPr/>
        </p:nvSpPr>
        <p:spPr>
          <a:xfrm>
            <a:off x="0" y="1152180"/>
            <a:ext cx="12192000" cy="64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a:solidFill>
                  <a:schemeClr val="dk1"/>
                </a:solidFill>
                <a:latin typeface="Calibri"/>
                <a:ea typeface="Calibri"/>
                <a:cs typeface="Calibri"/>
                <a:sym typeface="Calibri"/>
              </a:rPr>
              <a:t>Tecnologías utilizadas</a:t>
            </a:r>
            <a:endParaRPr/>
          </a:p>
        </p:txBody>
      </p:sp>
      <p:cxnSp>
        <p:nvCxnSpPr>
          <p:cNvPr id="221" name="Google Shape;221;p12"/>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sp>
        <p:nvSpPr>
          <p:cNvPr id="222" name="Google Shape;222;p12"/>
          <p:cNvSpPr txBox="1"/>
          <p:nvPr/>
        </p:nvSpPr>
        <p:spPr>
          <a:xfrm>
            <a:off x="324575" y="2387500"/>
            <a:ext cx="11470800" cy="4221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CL" sz="1800" b="1">
                <a:solidFill>
                  <a:schemeClr val="dk1"/>
                </a:solidFill>
                <a:latin typeface="Open Sans"/>
                <a:ea typeface="Open Sans"/>
                <a:cs typeface="Open Sans"/>
                <a:sym typeface="Open Sans"/>
              </a:rPr>
              <a:t>Frontend</a:t>
            </a:r>
            <a:r>
              <a:rPr lang="es-CL" sz="1800">
                <a:solidFill>
                  <a:schemeClr val="dk1"/>
                </a:solidFill>
                <a:latin typeface="Open Sans"/>
                <a:ea typeface="Open Sans"/>
                <a:cs typeface="Open Sans"/>
                <a:sym typeface="Open Sans"/>
              </a:rPr>
              <a:t>: Vue.js, TailwindCSS, TypeScript</a:t>
            </a:r>
            <a:endParaRPr sz="1800">
              <a:solidFill>
                <a:schemeClr val="dk1"/>
              </a:solidFill>
              <a:latin typeface="Open Sans"/>
              <a:ea typeface="Open Sans"/>
              <a:cs typeface="Open Sans"/>
              <a:sym typeface="Open Sans"/>
            </a:endParaRPr>
          </a:p>
          <a:p>
            <a:pPr marL="0" lvl="0" indent="0" algn="l" rtl="0">
              <a:lnSpc>
                <a:spcPct val="115000"/>
              </a:lnSpc>
              <a:spcBef>
                <a:spcPts val="0"/>
              </a:spcBef>
              <a:spcAft>
                <a:spcPts val="0"/>
              </a:spcAft>
              <a:buNone/>
            </a:pPr>
            <a:endParaRPr sz="1800">
              <a:solidFill>
                <a:schemeClr val="dk1"/>
              </a:solidFill>
              <a:latin typeface="Open Sans"/>
              <a:ea typeface="Open Sans"/>
              <a:cs typeface="Open Sans"/>
              <a:sym typeface="Open Sans"/>
            </a:endParaRPr>
          </a:p>
          <a:p>
            <a:pPr marL="0" lvl="0" indent="0" algn="l" rtl="0">
              <a:lnSpc>
                <a:spcPct val="115000"/>
              </a:lnSpc>
              <a:spcBef>
                <a:spcPts val="0"/>
              </a:spcBef>
              <a:spcAft>
                <a:spcPts val="0"/>
              </a:spcAft>
              <a:buNone/>
            </a:pPr>
            <a:endParaRPr sz="1800">
              <a:solidFill>
                <a:schemeClr val="dk1"/>
              </a:solidFill>
              <a:latin typeface="Open Sans"/>
              <a:ea typeface="Open Sans"/>
              <a:cs typeface="Open Sans"/>
              <a:sym typeface="Open Sans"/>
            </a:endParaRPr>
          </a:p>
          <a:p>
            <a:pPr marL="0" lvl="0" indent="0" algn="l" rtl="0">
              <a:lnSpc>
                <a:spcPct val="115000"/>
              </a:lnSpc>
              <a:spcBef>
                <a:spcPts val="1200"/>
              </a:spcBef>
              <a:spcAft>
                <a:spcPts val="0"/>
              </a:spcAft>
              <a:buClr>
                <a:schemeClr val="dk1"/>
              </a:buClr>
              <a:buSzPts val="2323"/>
              <a:buFont typeface="Arial"/>
              <a:buNone/>
            </a:pPr>
            <a:r>
              <a:rPr lang="es-CL" sz="1800" b="1">
                <a:solidFill>
                  <a:schemeClr val="dk1"/>
                </a:solidFill>
                <a:latin typeface="Open Sans"/>
                <a:ea typeface="Open Sans"/>
                <a:cs typeface="Open Sans"/>
                <a:sym typeface="Open Sans"/>
              </a:rPr>
              <a:t>Backend</a:t>
            </a:r>
            <a:r>
              <a:rPr lang="es-CL" sz="1800">
                <a:solidFill>
                  <a:schemeClr val="dk1"/>
                </a:solidFill>
                <a:latin typeface="Open Sans"/>
                <a:ea typeface="Open Sans"/>
                <a:cs typeface="Open Sans"/>
                <a:sym typeface="Open Sans"/>
              </a:rPr>
              <a:t>: </a:t>
            </a:r>
            <a:r>
              <a:rPr lang="es-CL" sz="1800" u="sng">
                <a:solidFill>
                  <a:schemeClr val="hlink"/>
                </a:solidFill>
                <a:latin typeface="Open Sans"/>
                <a:ea typeface="Open Sans"/>
                <a:cs typeface="Open Sans"/>
                <a:sym typeface="Open Sans"/>
                <a:hlinkClick r:id="rId4"/>
              </a:rPr>
              <a:t>Node.js</a:t>
            </a:r>
            <a:r>
              <a:rPr lang="es-CL" sz="1800">
                <a:solidFill>
                  <a:schemeClr val="dk1"/>
                </a:solidFill>
                <a:latin typeface="Open Sans"/>
                <a:ea typeface="Open Sans"/>
                <a:cs typeface="Open Sans"/>
                <a:sym typeface="Open Sans"/>
              </a:rPr>
              <a:t>+Express , TypeScript</a:t>
            </a:r>
            <a:endParaRPr sz="1800">
              <a:solidFill>
                <a:schemeClr val="dk1"/>
              </a:solidFill>
              <a:latin typeface="Open Sans"/>
              <a:ea typeface="Open Sans"/>
              <a:cs typeface="Open Sans"/>
              <a:sym typeface="Open Sans"/>
            </a:endParaRPr>
          </a:p>
          <a:p>
            <a:pPr marL="0" lvl="0" indent="0" algn="l" rtl="0">
              <a:lnSpc>
                <a:spcPct val="115000"/>
              </a:lnSpc>
              <a:spcBef>
                <a:spcPts val="1200"/>
              </a:spcBef>
              <a:spcAft>
                <a:spcPts val="0"/>
              </a:spcAft>
              <a:buClr>
                <a:schemeClr val="dk1"/>
              </a:buClr>
              <a:buSzPts val="2323"/>
              <a:buFont typeface="Arial"/>
              <a:buNone/>
            </a:pPr>
            <a:endParaRPr sz="1800">
              <a:solidFill>
                <a:schemeClr val="dk1"/>
              </a:solidFill>
              <a:latin typeface="Open Sans"/>
              <a:ea typeface="Open Sans"/>
              <a:cs typeface="Open Sans"/>
              <a:sym typeface="Open Sans"/>
            </a:endParaRPr>
          </a:p>
          <a:p>
            <a:pPr marL="0" lvl="0" indent="0" algn="l" rtl="0">
              <a:lnSpc>
                <a:spcPct val="115000"/>
              </a:lnSpc>
              <a:spcBef>
                <a:spcPts val="1200"/>
              </a:spcBef>
              <a:spcAft>
                <a:spcPts val="0"/>
              </a:spcAft>
              <a:buClr>
                <a:schemeClr val="dk1"/>
              </a:buClr>
              <a:buSzPts val="2323"/>
              <a:buFont typeface="Arial"/>
              <a:buNone/>
            </a:pPr>
            <a:endParaRPr sz="1800">
              <a:solidFill>
                <a:schemeClr val="dk1"/>
              </a:solidFill>
              <a:latin typeface="Open Sans"/>
              <a:ea typeface="Open Sans"/>
              <a:cs typeface="Open Sans"/>
              <a:sym typeface="Open Sans"/>
            </a:endParaRPr>
          </a:p>
          <a:p>
            <a:pPr marL="0" lvl="0" indent="0" algn="l" rtl="0">
              <a:lnSpc>
                <a:spcPct val="115000"/>
              </a:lnSpc>
              <a:spcBef>
                <a:spcPts val="1200"/>
              </a:spcBef>
              <a:spcAft>
                <a:spcPts val="0"/>
              </a:spcAft>
              <a:buClr>
                <a:schemeClr val="dk1"/>
              </a:buClr>
              <a:buSzPts val="2323"/>
              <a:buFont typeface="Arial"/>
              <a:buNone/>
            </a:pPr>
            <a:r>
              <a:rPr lang="es-CL" sz="1800" b="1">
                <a:solidFill>
                  <a:schemeClr val="dk1"/>
                </a:solidFill>
                <a:latin typeface="Open Sans"/>
                <a:ea typeface="Open Sans"/>
                <a:cs typeface="Open Sans"/>
                <a:sym typeface="Open Sans"/>
              </a:rPr>
              <a:t>Base de Datos</a:t>
            </a:r>
            <a:r>
              <a:rPr lang="es-CL" sz="1800">
                <a:solidFill>
                  <a:schemeClr val="dk1"/>
                </a:solidFill>
                <a:latin typeface="Open Sans"/>
                <a:ea typeface="Open Sans"/>
                <a:cs typeface="Open Sans"/>
                <a:sym typeface="Open Sans"/>
              </a:rPr>
              <a:t>: Supabase (PostgreSQL + Auth) </a:t>
            </a:r>
            <a:endParaRPr sz="1800">
              <a:solidFill>
                <a:schemeClr val="dk1"/>
              </a:solidFill>
              <a:latin typeface="Open Sans"/>
              <a:ea typeface="Open Sans"/>
              <a:cs typeface="Open Sans"/>
              <a:sym typeface="Open Sans"/>
            </a:endParaRPr>
          </a:p>
        </p:txBody>
      </p:sp>
      <p:pic>
        <p:nvPicPr>
          <p:cNvPr id="223" name="Google Shape;223;p12" title="Vue.js_Logo_2.svg.png"/>
          <p:cNvPicPr preferRelativeResize="0"/>
          <p:nvPr/>
        </p:nvPicPr>
        <p:blipFill>
          <a:blip r:embed="rId5">
            <a:alphaModFix/>
          </a:blip>
          <a:stretch>
            <a:fillRect/>
          </a:stretch>
        </p:blipFill>
        <p:spPr>
          <a:xfrm>
            <a:off x="5585849" y="2324400"/>
            <a:ext cx="798198" cy="691399"/>
          </a:xfrm>
          <a:prstGeom prst="rect">
            <a:avLst/>
          </a:prstGeom>
          <a:noFill/>
          <a:ln>
            <a:noFill/>
          </a:ln>
        </p:spPr>
      </p:pic>
      <p:pic>
        <p:nvPicPr>
          <p:cNvPr id="224" name="Google Shape;224;p12" title="ts.png"/>
          <p:cNvPicPr preferRelativeResize="0"/>
          <p:nvPr/>
        </p:nvPicPr>
        <p:blipFill>
          <a:blip r:embed="rId6">
            <a:alphaModFix/>
          </a:blip>
          <a:stretch>
            <a:fillRect/>
          </a:stretch>
        </p:blipFill>
        <p:spPr>
          <a:xfrm>
            <a:off x="7006900" y="2324400"/>
            <a:ext cx="691400" cy="691400"/>
          </a:xfrm>
          <a:prstGeom prst="rect">
            <a:avLst/>
          </a:prstGeom>
          <a:noFill/>
          <a:ln>
            <a:noFill/>
          </a:ln>
        </p:spPr>
      </p:pic>
      <p:pic>
        <p:nvPicPr>
          <p:cNvPr id="225" name="Google Shape;225;p12" title="supabase.png"/>
          <p:cNvPicPr preferRelativeResize="0"/>
          <p:nvPr/>
        </p:nvPicPr>
        <p:blipFill>
          <a:blip r:embed="rId7">
            <a:alphaModFix/>
          </a:blip>
          <a:stretch>
            <a:fillRect/>
          </a:stretch>
        </p:blipFill>
        <p:spPr>
          <a:xfrm>
            <a:off x="5770550" y="4672525"/>
            <a:ext cx="923275" cy="923275"/>
          </a:xfrm>
          <a:prstGeom prst="rect">
            <a:avLst/>
          </a:prstGeom>
          <a:noFill/>
          <a:ln>
            <a:noFill/>
          </a:ln>
        </p:spPr>
      </p:pic>
      <p:pic>
        <p:nvPicPr>
          <p:cNvPr id="226" name="Google Shape;226;p12" title="Node.js_logo.svg.png"/>
          <p:cNvPicPr preferRelativeResize="0"/>
          <p:nvPr/>
        </p:nvPicPr>
        <p:blipFill>
          <a:blip r:embed="rId8">
            <a:alphaModFix/>
          </a:blip>
          <a:stretch>
            <a:fillRect/>
          </a:stretch>
        </p:blipFill>
        <p:spPr>
          <a:xfrm>
            <a:off x="5113054" y="3234025"/>
            <a:ext cx="1893852" cy="1159624"/>
          </a:xfrm>
          <a:prstGeom prst="rect">
            <a:avLst/>
          </a:prstGeom>
          <a:noFill/>
          <a:ln>
            <a:noFill/>
          </a:ln>
        </p:spPr>
      </p:pic>
      <p:pic>
        <p:nvPicPr>
          <p:cNvPr id="227" name="Google Shape;227;p12" title="icons8-express-js.png"/>
          <p:cNvPicPr preferRelativeResize="0"/>
          <p:nvPr/>
        </p:nvPicPr>
        <p:blipFill>
          <a:blip r:embed="rId9">
            <a:alphaModFix/>
          </a:blip>
          <a:stretch>
            <a:fillRect/>
          </a:stretch>
        </p:blipFill>
        <p:spPr>
          <a:xfrm>
            <a:off x="7404652" y="3141988"/>
            <a:ext cx="1133750" cy="1133750"/>
          </a:xfrm>
          <a:prstGeom prst="rect">
            <a:avLst/>
          </a:prstGeom>
          <a:noFill/>
          <a:ln>
            <a:noFill/>
          </a:ln>
        </p:spPr>
      </p:pic>
    </p:spTree>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pic>
        <p:nvPicPr>
          <p:cNvPr id="232" name="Google Shape;232;p13"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233" name="Google Shape;233;p13"/>
          <p:cNvSpPr txBox="1"/>
          <p:nvPr/>
        </p:nvSpPr>
        <p:spPr>
          <a:xfrm>
            <a:off x="1" y="1459095"/>
            <a:ext cx="12191999" cy="76944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4400">
                <a:solidFill>
                  <a:schemeClr val="dk1"/>
                </a:solidFill>
                <a:latin typeface="Calibri"/>
                <a:ea typeface="Calibri"/>
                <a:cs typeface="Calibri"/>
                <a:sym typeface="Calibri"/>
              </a:rPr>
              <a:t>Resultados obtenidos</a:t>
            </a:r>
            <a:endParaRPr/>
          </a:p>
        </p:txBody>
      </p:sp>
      <p:sp>
        <p:nvSpPr>
          <p:cNvPr id="234" name="Google Shape;234;p13"/>
          <p:cNvSpPr txBox="1"/>
          <p:nvPr/>
        </p:nvSpPr>
        <p:spPr>
          <a:xfrm>
            <a:off x="136188" y="368928"/>
            <a:ext cx="12192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rgbClr val="757070"/>
                </a:solidFill>
                <a:latin typeface="Calibri"/>
                <a:ea typeface="Calibri"/>
                <a:cs typeface="Calibri"/>
                <a:sym typeface="Calibri"/>
              </a:rPr>
              <a:t>PROYECTO “DATA SCHOOL”</a:t>
            </a:r>
            <a:endParaRPr/>
          </a:p>
        </p:txBody>
      </p:sp>
      <p:sp>
        <p:nvSpPr>
          <p:cNvPr id="235" name="Google Shape;235;p13"/>
          <p:cNvSpPr txBox="1"/>
          <p:nvPr/>
        </p:nvSpPr>
        <p:spPr>
          <a:xfrm>
            <a:off x="527075" y="2579850"/>
            <a:ext cx="11111400" cy="2805300"/>
          </a:xfrm>
          <a:prstGeom prst="rect">
            <a:avLst/>
          </a:prstGeom>
          <a:noFill/>
          <a:ln>
            <a:noFill/>
          </a:ln>
        </p:spPr>
        <p:txBody>
          <a:bodyPr spcFirstLastPara="1" wrap="square" lIns="91425" tIns="91425" rIns="91425" bIns="91425" anchor="t" anchorCtr="0">
            <a:noAutofit/>
          </a:bodyPr>
          <a:lstStyle/>
          <a:p>
            <a:pPr marL="457200" lvl="0" indent="-406400" algn="l" rtl="0">
              <a:spcBef>
                <a:spcPts val="0"/>
              </a:spcBef>
              <a:spcAft>
                <a:spcPts val="0"/>
              </a:spcAft>
              <a:buClr>
                <a:schemeClr val="dk1"/>
              </a:buClr>
              <a:buSzPts val="2800"/>
              <a:buFont typeface="Calibri"/>
              <a:buChar char="●"/>
            </a:pPr>
            <a:r>
              <a:rPr lang="es-CL" sz="2800">
                <a:solidFill>
                  <a:schemeClr val="dk1"/>
                </a:solidFill>
                <a:latin typeface="Calibri"/>
                <a:ea typeface="Calibri"/>
                <a:cs typeface="Calibri"/>
                <a:sym typeface="Calibri"/>
              </a:rPr>
              <a:t>Se cumplio con la Gran parte de los requerimientos</a:t>
            </a:r>
            <a:endParaRPr sz="2800">
              <a:solidFill>
                <a:schemeClr val="dk1"/>
              </a:solidFill>
              <a:latin typeface="Calibri"/>
              <a:ea typeface="Calibri"/>
              <a:cs typeface="Calibri"/>
              <a:sym typeface="Calibri"/>
            </a:endParaRPr>
          </a:p>
          <a:p>
            <a:pPr marL="457200" lvl="0" indent="-406400" algn="l" rtl="0">
              <a:spcBef>
                <a:spcPts val="0"/>
              </a:spcBef>
              <a:spcAft>
                <a:spcPts val="0"/>
              </a:spcAft>
              <a:buClr>
                <a:schemeClr val="dk1"/>
              </a:buClr>
              <a:buSzPts val="2800"/>
              <a:buFont typeface="Calibri"/>
              <a:buChar char="●"/>
            </a:pPr>
            <a:r>
              <a:rPr lang="es-CL" sz="2800">
                <a:solidFill>
                  <a:schemeClr val="dk1"/>
                </a:solidFill>
                <a:latin typeface="Calibri"/>
                <a:ea typeface="Calibri"/>
                <a:cs typeface="Calibri"/>
                <a:sym typeface="Calibri"/>
              </a:rPr>
              <a:t>Gestión completa de cursos y asignaturas</a:t>
            </a:r>
            <a:endParaRPr sz="2800">
              <a:solidFill>
                <a:schemeClr val="dk1"/>
              </a:solidFill>
              <a:latin typeface="Calibri"/>
              <a:ea typeface="Calibri"/>
              <a:cs typeface="Calibri"/>
              <a:sym typeface="Calibri"/>
            </a:endParaRPr>
          </a:p>
          <a:p>
            <a:pPr marL="457200" lvl="0" indent="-406400" algn="l" rtl="0">
              <a:spcBef>
                <a:spcPts val="0"/>
              </a:spcBef>
              <a:spcAft>
                <a:spcPts val="0"/>
              </a:spcAft>
              <a:buClr>
                <a:schemeClr val="dk1"/>
              </a:buClr>
              <a:buSzPts val="2800"/>
              <a:buFont typeface="Calibri"/>
              <a:buChar char="●"/>
            </a:pPr>
            <a:r>
              <a:rPr lang="es-CL" sz="2800">
                <a:solidFill>
                  <a:schemeClr val="dk1"/>
                </a:solidFill>
                <a:latin typeface="Calibri"/>
                <a:ea typeface="Calibri"/>
                <a:cs typeface="Calibri"/>
                <a:sym typeface="Calibri"/>
              </a:rPr>
              <a:t>Falto modulos analiticos</a:t>
            </a:r>
            <a:endParaRPr sz="2800">
              <a:solidFill>
                <a:schemeClr val="dk1"/>
              </a:solidFill>
              <a:latin typeface="Calibri"/>
              <a:ea typeface="Calibri"/>
              <a:cs typeface="Calibri"/>
              <a:sym typeface="Calibri"/>
            </a:endParaRPr>
          </a:p>
          <a:p>
            <a:pPr marL="457200" lvl="0" indent="-406400" algn="l" rtl="0">
              <a:spcBef>
                <a:spcPts val="0"/>
              </a:spcBef>
              <a:spcAft>
                <a:spcPts val="0"/>
              </a:spcAft>
              <a:buClr>
                <a:schemeClr val="dk1"/>
              </a:buClr>
              <a:buSzPts val="2800"/>
              <a:buFont typeface="Calibri"/>
              <a:buChar char="●"/>
            </a:pPr>
            <a:r>
              <a:rPr lang="es-CL" sz="2800">
                <a:solidFill>
                  <a:schemeClr val="dk1"/>
                </a:solidFill>
                <a:latin typeface="Calibri"/>
                <a:ea typeface="Calibri"/>
                <a:cs typeface="Calibri"/>
                <a:sym typeface="Calibri"/>
              </a:rPr>
              <a:t>Módulo de calificaciones con cálculo automático</a:t>
            </a:r>
            <a:endParaRPr sz="2800">
              <a:solidFill>
                <a:schemeClr val="dk1"/>
              </a:solidFill>
              <a:latin typeface="Calibri"/>
              <a:ea typeface="Calibri"/>
              <a:cs typeface="Calibri"/>
              <a:sym typeface="Calibri"/>
            </a:endParaRPr>
          </a:p>
          <a:p>
            <a:pPr marL="457200" lvl="0" indent="-406400" algn="l" rtl="0">
              <a:spcBef>
                <a:spcPts val="0"/>
              </a:spcBef>
              <a:spcAft>
                <a:spcPts val="0"/>
              </a:spcAft>
              <a:buClr>
                <a:schemeClr val="dk1"/>
              </a:buClr>
              <a:buSzPts val="2800"/>
              <a:buFont typeface="Calibri"/>
              <a:buChar char="●"/>
            </a:pPr>
            <a:r>
              <a:rPr lang="es-CL" sz="2800">
                <a:solidFill>
                  <a:schemeClr val="dk1"/>
                </a:solidFill>
                <a:latin typeface="Calibri"/>
                <a:ea typeface="Calibri"/>
                <a:cs typeface="Calibri"/>
                <a:sym typeface="Calibri"/>
              </a:rPr>
              <a:t>Base de datos con alrededor de 25 tablas operativas</a:t>
            </a:r>
            <a:endParaRPr sz="2800">
              <a:solidFill>
                <a:schemeClr val="dk1"/>
              </a:solidFill>
              <a:latin typeface="Calibri"/>
              <a:ea typeface="Calibri"/>
              <a:cs typeface="Calibri"/>
              <a:sym typeface="Calibri"/>
            </a:endParaRPr>
          </a:p>
          <a:p>
            <a:pPr marL="457200" lvl="0" indent="-406400" algn="l" rtl="0">
              <a:spcBef>
                <a:spcPts val="0"/>
              </a:spcBef>
              <a:spcAft>
                <a:spcPts val="0"/>
              </a:spcAft>
              <a:buClr>
                <a:schemeClr val="dk1"/>
              </a:buClr>
              <a:buSzPts val="2800"/>
              <a:buFont typeface="Calibri"/>
              <a:buChar char="●"/>
            </a:pPr>
            <a:r>
              <a:rPr lang="es-CL" sz="2800">
                <a:solidFill>
                  <a:schemeClr val="dk1"/>
                </a:solidFill>
                <a:latin typeface="Calibri"/>
                <a:ea typeface="Calibri"/>
                <a:cs typeface="Calibri"/>
                <a:sym typeface="Calibri"/>
              </a:rPr>
              <a:t>Interfaz responsiva</a:t>
            </a:r>
            <a:endParaRPr sz="2800">
              <a:solidFill>
                <a:schemeClr val="dk1"/>
              </a:solidFill>
              <a:latin typeface="Calibri"/>
              <a:ea typeface="Calibri"/>
              <a:cs typeface="Calibri"/>
              <a:sym typeface="Calibri"/>
            </a:endParaRPr>
          </a:p>
        </p:txBody>
      </p:sp>
    </p:spTree>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pic>
        <p:nvPicPr>
          <p:cNvPr id="240" name="Google Shape;240;p14"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241" name="Google Shape;241;p14"/>
          <p:cNvSpPr txBox="1"/>
          <p:nvPr/>
        </p:nvSpPr>
        <p:spPr>
          <a:xfrm>
            <a:off x="1" y="1067948"/>
            <a:ext cx="12192000" cy="769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4400">
                <a:solidFill>
                  <a:schemeClr val="dk1"/>
                </a:solidFill>
                <a:latin typeface="Calibri"/>
                <a:ea typeface="Calibri"/>
                <a:cs typeface="Calibri"/>
                <a:sym typeface="Calibri"/>
              </a:rPr>
              <a:t>Obstáculos presentados durante el desarrollo</a:t>
            </a:r>
            <a:endParaRPr/>
          </a:p>
        </p:txBody>
      </p:sp>
      <p:sp>
        <p:nvSpPr>
          <p:cNvPr id="242" name="Google Shape;242;p14"/>
          <p:cNvSpPr txBox="1"/>
          <p:nvPr/>
        </p:nvSpPr>
        <p:spPr>
          <a:xfrm>
            <a:off x="678900" y="2167175"/>
            <a:ext cx="10834200" cy="4053300"/>
          </a:xfrm>
          <a:prstGeom prst="rect">
            <a:avLst/>
          </a:prstGeom>
          <a:noFill/>
          <a:ln>
            <a:noFill/>
          </a:ln>
        </p:spPr>
        <p:txBody>
          <a:bodyPr spcFirstLastPara="1" wrap="square" lIns="91425" tIns="91425" rIns="91425" bIns="91425" anchor="t" anchorCtr="0">
            <a:noAutofit/>
          </a:bodyPr>
          <a:lstStyle/>
          <a:p>
            <a:pPr marL="457200" lvl="0" indent="-406400" algn="l" rtl="0">
              <a:spcBef>
                <a:spcPts val="0"/>
              </a:spcBef>
              <a:spcAft>
                <a:spcPts val="0"/>
              </a:spcAft>
              <a:buClr>
                <a:schemeClr val="dk1"/>
              </a:buClr>
              <a:buSzPts val="2800"/>
              <a:buChar char="●"/>
            </a:pPr>
            <a:r>
              <a:rPr lang="es-CL" sz="2800">
                <a:solidFill>
                  <a:schemeClr val="dk1"/>
                </a:solidFill>
              </a:rPr>
              <a:t>Cambio de metodología a KanBan.</a:t>
            </a:r>
            <a:endParaRPr sz="2800">
              <a:solidFill>
                <a:schemeClr val="dk1"/>
              </a:solidFill>
            </a:endParaRPr>
          </a:p>
          <a:p>
            <a:pPr marL="457200" lvl="0" indent="-406400" algn="l" rtl="0">
              <a:spcBef>
                <a:spcPts val="0"/>
              </a:spcBef>
              <a:spcAft>
                <a:spcPts val="0"/>
              </a:spcAft>
              <a:buClr>
                <a:schemeClr val="dk1"/>
              </a:buClr>
              <a:buSzPts val="2800"/>
              <a:buChar char="●"/>
            </a:pPr>
            <a:r>
              <a:rPr lang="es-CL" sz="2800">
                <a:solidFill>
                  <a:schemeClr val="dk1"/>
                </a:solidFill>
              </a:rPr>
              <a:t>Falta de tiempo.</a:t>
            </a:r>
            <a:endParaRPr sz="2800">
              <a:solidFill>
                <a:schemeClr val="dk1"/>
              </a:solidFill>
            </a:endParaRPr>
          </a:p>
          <a:p>
            <a:pPr marL="457200" lvl="0" indent="-406400" algn="l" rtl="0">
              <a:spcBef>
                <a:spcPts val="0"/>
              </a:spcBef>
              <a:spcAft>
                <a:spcPts val="0"/>
              </a:spcAft>
              <a:buClr>
                <a:schemeClr val="dk1"/>
              </a:buClr>
              <a:buSzPts val="2800"/>
              <a:buChar char="●"/>
            </a:pPr>
            <a:r>
              <a:rPr lang="es-CL" sz="2800">
                <a:solidFill>
                  <a:schemeClr val="dk1"/>
                </a:solidFill>
              </a:rPr>
              <a:t>Complejidad de la base de datos.</a:t>
            </a:r>
            <a:endParaRPr sz="2800">
              <a:solidFill>
                <a:schemeClr val="dk1"/>
              </a:solidFill>
            </a:endParaRPr>
          </a:p>
          <a:p>
            <a:pPr marL="457200" lvl="0" indent="-406400" algn="l" rtl="0">
              <a:spcBef>
                <a:spcPts val="0"/>
              </a:spcBef>
              <a:spcAft>
                <a:spcPts val="0"/>
              </a:spcAft>
              <a:buClr>
                <a:schemeClr val="dk1"/>
              </a:buClr>
              <a:buSzPts val="2800"/>
              <a:buChar char="●"/>
            </a:pPr>
            <a:r>
              <a:rPr lang="es-CL" sz="2800">
                <a:solidFill>
                  <a:schemeClr val="dk1"/>
                </a:solidFill>
              </a:rPr>
              <a:t>Falta de conocimientos de tecnologías utilizadas. (Curva de aprendizaje)</a:t>
            </a:r>
            <a:endParaRPr sz="2800">
              <a:solidFill>
                <a:schemeClr val="dk1"/>
              </a:solidFill>
            </a:endParaRPr>
          </a:p>
        </p:txBody>
      </p:sp>
      <p:sp>
        <p:nvSpPr>
          <p:cNvPr id="243" name="Google Shape;243;p14"/>
          <p:cNvSpPr txBox="1"/>
          <p:nvPr/>
        </p:nvSpPr>
        <p:spPr>
          <a:xfrm>
            <a:off x="136188" y="368928"/>
            <a:ext cx="12192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rgbClr val="757070"/>
                </a:solidFill>
                <a:latin typeface="Calibri"/>
                <a:ea typeface="Calibri"/>
                <a:cs typeface="Calibri"/>
                <a:sym typeface="Calibri"/>
              </a:rPr>
              <a:t>PROYECTO “DATA SCHOOL”</a:t>
            </a:r>
            <a:endParaRPr/>
          </a:p>
        </p:txBody>
      </p:sp>
    </p:spTree>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pic>
        <p:nvPicPr>
          <p:cNvPr id="248" name="Google Shape;248;p16"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249" name="Google Shape;249;p16"/>
          <p:cNvSpPr txBox="1"/>
          <p:nvPr/>
        </p:nvSpPr>
        <p:spPr>
          <a:xfrm>
            <a:off x="0" y="3044279"/>
            <a:ext cx="12191999" cy="76944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4400">
                <a:solidFill>
                  <a:schemeClr val="dk1"/>
                </a:solidFill>
                <a:latin typeface="Calibri"/>
                <a:ea typeface="Calibri"/>
                <a:cs typeface="Calibri"/>
                <a:sym typeface="Calibri"/>
              </a:rPr>
              <a:t>PREGUNTAS DE LA COMISIÓN</a:t>
            </a:r>
            <a:endParaRPr/>
          </a:p>
        </p:txBody>
      </p:sp>
    </p:spTree>
  </p:cSld>
  <p:clrMapOvr>
    <a:masterClrMapping/>
  </p:clrMapOvr>
  <p:transition spd="slow">
    <p:wipe/>
  </p:transition>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869</Words>
  <Application>Microsoft Office PowerPoint</Application>
  <PresentationFormat>Panorámica</PresentationFormat>
  <Paragraphs>123</Paragraphs>
  <Slides>18</Slides>
  <Notes>18</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18</vt:i4>
      </vt:variant>
    </vt:vector>
  </HeadingPairs>
  <TitlesOfParts>
    <vt:vector size="22" baseType="lpstr">
      <vt:lpstr>Open Sans</vt:lpstr>
      <vt:lpstr>Calibri</vt:lpstr>
      <vt:lpstr>Arial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Gerardo Galan Cruz</dc:creator>
  <cp:lastModifiedBy>JORGE . RIFFO URIBE</cp:lastModifiedBy>
  <cp:revision>1</cp:revision>
  <dcterms:created xsi:type="dcterms:W3CDTF">2023-10-28T21:12:11Z</dcterms:created>
  <dcterms:modified xsi:type="dcterms:W3CDTF">2025-11-19T03:46:14Z</dcterms:modified>
</cp:coreProperties>
</file>